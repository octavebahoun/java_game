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F417C99-EFE7-4265-8D13-060637BB49DF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D4539A-F296-4945-B854-0BB5807DA7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2E168A-A609-41B0-8645-3176720B70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D52121-E4D3-4BAF-8110-E85A3FA441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ECF241-B8A3-4D1C-9F26-F3CD08CF70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AE0D27-7A49-4526-8B02-AF0F873BA8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CACF6D-6934-4686-99CA-FA76E5B20E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ED7917-839D-45A2-BF56-D6D4D06243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543469-69F3-469F-94D6-07D412A0F33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B4314A-5A70-4CA7-9E62-082CE5C46B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4B2558-249B-442C-A47E-349535A701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CDB19C-06BF-44EA-BBF2-532F52F0B2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2D415B-CB66-49A5-924F-A501F0E26D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uez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pour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édit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er le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form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at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du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text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e-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titre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217920" y="73152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6236280" y="76824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b4d8"/>
                </a:solidFill>
                <a:latin typeface="Calibri"/>
              </a:rPr>
              <a:t>J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7040880" y="73152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7059240" y="76824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b949e"/>
                </a:solidFill>
                <a:latin typeface="Calibri"/>
              </a:rPr>
              <a:t>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7863840" y="73152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7882200" y="76824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b4d8"/>
                </a:solidFill>
                <a:latin typeface="Calibri"/>
              </a:rPr>
              <a:t>U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6217920" y="155448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6236280" y="159120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b949e"/>
                </a:solidFill>
                <a:latin typeface="Calibri"/>
              </a:rPr>
              <a:t>M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040880" y="155448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7059240" y="159120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b4d8"/>
                </a:solidFill>
                <a:latin typeface="Calibri"/>
              </a:rPr>
              <a:t>O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7863840" y="155448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2"/>
          <p:cNvSpPr/>
          <p:nvPr/>
        </p:nvSpPr>
        <p:spPr>
          <a:xfrm>
            <a:off x="7882200" y="159120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b949e"/>
                </a:solidFill>
                <a:latin typeface="Calibri"/>
              </a:rPr>
              <a:t>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6217920" y="237744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6236280" y="241416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b4d8"/>
                </a:solidFill>
                <a:latin typeface="Calibri"/>
              </a:rPr>
              <a:t>C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7040880" y="237744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6"/>
          <p:cNvSpPr/>
          <p:nvPr/>
        </p:nvSpPr>
        <p:spPr>
          <a:xfrm>
            <a:off x="7059240" y="241416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b949e"/>
                </a:solidFill>
                <a:latin typeface="Calibri"/>
              </a:rPr>
              <a:t>A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" name="Shape 17"/>
          <p:cNvSpPr/>
          <p:nvPr/>
        </p:nvSpPr>
        <p:spPr>
          <a:xfrm>
            <a:off x="7863840" y="2377440"/>
            <a:ext cx="685440" cy="685440"/>
          </a:xfrm>
          <a:prstGeom prst="roundRect">
            <a:avLst>
              <a:gd name="adj" fmla="val 6667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8"/>
          <p:cNvSpPr/>
          <p:nvPr/>
        </p:nvSpPr>
        <p:spPr>
          <a:xfrm>
            <a:off x="7882200" y="2414160"/>
            <a:ext cx="6487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b4d8"/>
                </a:solidFill>
                <a:latin typeface="Calibri"/>
              </a:rPr>
              <a:t>C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360000" y="180000"/>
            <a:ext cx="5400360" cy="12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797" strike="noStrike">
                <a:solidFill>
                  <a:srgbClr val="f0f6fc"/>
                </a:solidFill>
                <a:latin typeface="Calibri"/>
              </a:rPr>
              <a:t>JEU DE</a:t>
            </a:r>
            <a:endParaRPr b="0" lang="fr-FR" sz="5200" spc="-1" strike="noStrike"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360000" y="1980000"/>
            <a:ext cx="5303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398" strike="noStrike">
                <a:solidFill>
                  <a:srgbClr val="00b4d8"/>
                </a:solidFill>
                <a:latin typeface="Calibri"/>
              </a:rPr>
              <a:t>MOTS CACHÉS</a:t>
            </a:r>
            <a:endParaRPr b="0" lang="fr-FR" sz="5200" spc="-1" strike="noStrike"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457200" y="2843640"/>
            <a:ext cx="3657240" cy="36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22"/>
          <p:cNvSpPr/>
          <p:nvPr/>
        </p:nvSpPr>
        <p:spPr>
          <a:xfrm>
            <a:off x="457200" y="2788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b949e"/>
                </a:solidFill>
                <a:latin typeface="Calibri"/>
              </a:rPr>
              <a:t>Projet Java — Interface Swing &amp; Moteur de Vérification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457200" y="3429000"/>
            <a:ext cx="1188360" cy="347040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4"/>
          <p:cNvSpPr/>
          <p:nvPr/>
        </p:nvSpPr>
        <p:spPr>
          <a:xfrm>
            <a:off x="457200" y="342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</a:rPr>
              <a:t>Java SE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9" name="Shape 25"/>
          <p:cNvSpPr/>
          <p:nvPr/>
        </p:nvSpPr>
        <p:spPr>
          <a:xfrm>
            <a:off x="1783080" y="3429000"/>
            <a:ext cx="1188360" cy="347040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6"/>
          <p:cNvSpPr/>
          <p:nvPr/>
        </p:nvSpPr>
        <p:spPr>
          <a:xfrm>
            <a:off x="1783080" y="342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</a:rPr>
              <a:t>Swing GUI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71" name="Shape 27"/>
          <p:cNvSpPr/>
          <p:nvPr/>
        </p:nvSpPr>
        <p:spPr>
          <a:xfrm>
            <a:off x="3108960" y="3429000"/>
            <a:ext cx="1188360" cy="347040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28"/>
          <p:cNvSpPr/>
          <p:nvPr/>
        </p:nvSpPr>
        <p:spPr>
          <a:xfrm>
            <a:off x="3108960" y="342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</a:rPr>
              <a:t>MVC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73" name="Shape 29"/>
          <p:cNvSpPr/>
          <p:nvPr/>
        </p:nvSpPr>
        <p:spPr>
          <a:xfrm>
            <a:off x="4434840" y="3429000"/>
            <a:ext cx="1188360" cy="347040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30"/>
          <p:cNvSpPr/>
          <p:nvPr/>
        </p:nvSpPr>
        <p:spPr>
          <a:xfrm>
            <a:off x="4434840" y="34290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</a:rPr>
              <a:t>OOP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75" name="Text 31"/>
          <p:cNvSpPr/>
          <p:nvPr/>
        </p:nvSpPr>
        <p:spPr>
          <a:xfrm>
            <a:off x="457200" y="411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Grille 10×10  |  Mots en 8 directions  |  Score automatique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6" name="Shape 32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33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78" name="Text 34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1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Objectif du Projet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Qu'est-ce qu'on cherche à construire ?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365760" y="1188720"/>
            <a:ext cx="4160160" cy="1599840"/>
          </a:xfrm>
          <a:prstGeom prst="roundRect">
            <a:avLst>
              <a:gd name="adj" fmla="val 571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548640" y="13716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86" name="Shape 5"/>
          <p:cNvSpPr/>
          <p:nvPr/>
        </p:nvSpPr>
        <p:spPr>
          <a:xfrm>
            <a:off x="365760" y="1188720"/>
            <a:ext cx="416016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6"/>
          <p:cNvSpPr/>
          <p:nvPr/>
        </p:nvSpPr>
        <p:spPr>
          <a:xfrm>
            <a:off x="1051560" y="12985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Calibri"/>
              </a:rPr>
              <a:t>Jeu jouable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48640" y="1755720"/>
            <a:ext cx="3794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Construire un jeu de mots cachés complet, fonctionnel, avec deux modes d'accès : console et interface graphique.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4800600" y="1188720"/>
            <a:ext cx="4160160" cy="1599840"/>
          </a:xfrm>
          <a:prstGeom prst="roundRect">
            <a:avLst>
              <a:gd name="adj" fmla="val 571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90" name="Image 2" descr="preencoded.png"/>
          <p:cNvPicPr/>
          <p:nvPr/>
        </p:nvPicPr>
        <p:blipFill>
          <a:blip r:embed="rId3"/>
          <a:stretch/>
        </p:blipFill>
        <p:spPr>
          <a:xfrm>
            <a:off x="4983480" y="13716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91" name="Shape 9"/>
          <p:cNvSpPr/>
          <p:nvPr/>
        </p:nvSpPr>
        <p:spPr>
          <a:xfrm>
            <a:off x="4800600" y="1188720"/>
            <a:ext cx="4160160" cy="543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0"/>
          <p:cNvSpPr/>
          <p:nvPr/>
        </p:nvSpPr>
        <p:spPr>
          <a:xfrm>
            <a:off x="5486400" y="12985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Calibri"/>
              </a:rPr>
              <a:t>Grille de lettres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4983480" y="1755720"/>
            <a:ext cx="3794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Placer plusieurs mots dans une grille 10×10 remplie de lettres aléatoires. Les mots peuvent être en 8 directions.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365760" y="3017520"/>
            <a:ext cx="4160160" cy="1599840"/>
          </a:xfrm>
          <a:prstGeom prst="roundRect">
            <a:avLst>
              <a:gd name="adj" fmla="val 571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95" name="Image 3" descr="preencoded.png"/>
          <p:cNvPicPr/>
          <p:nvPr/>
        </p:nvPicPr>
        <p:blipFill>
          <a:blip r:embed="rId4"/>
          <a:stretch/>
        </p:blipFill>
        <p:spPr>
          <a:xfrm>
            <a:off x="548640" y="3200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96" name="Shape 13"/>
          <p:cNvSpPr/>
          <p:nvPr/>
        </p:nvSpPr>
        <p:spPr>
          <a:xfrm>
            <a:off x="365760" y="3017520"/>
            <a:ext cx="4160160" cy="5436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4"/>
          <p:cNvSpPr/>
          <p:nvPr/>
        </p:nvSpPr>
        <p:spPr>
          <a:xfrm>
            <a:off x="1051560" y="31273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Calibri"/>
              </a:rPr>
              <a:t>Vérification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548640" y="3584520"/>
            <a:ext cx="3794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Vérifier les propositions du joueur via des coordonnées de début et de fin. Le moteur valide direction et contenu.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4800600" y="3017520"/>
            <a:ext cx="4160160" cy="1599840"/>
          </a:xfrm>
          <a:prstGeom prst="roundRect">
            <a:avLst>
              <a:gd name="adj" fmla="val 571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00" name="Image 4" descr="preencoded.png"/>
          <p:cNvPicPr/>
          <p:nvPr/>
        </p:nvPicPr>
        <p:blipFill>
          <a:blip r:embed="rId5"/>
          <a:stretch/>
        </p:blipFill>
        <p:spPr>
          <a:xfrm>
            <a:off x="4983480" y="3200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01" name="Shape 17"/>
          <p:cNvSpPr/>
          <p:nvPr/>
        </p:nvSpPr>
        <p:spPr>
          <a:xfrm>
            <a:off x="4800600" y="3017520"/>
            <a:ext cx="4160160" cy="5436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8"/>
          <p:cNvSpPr/>
          <p:nvPr/>
        </p:nvSpPr>
        <p:spPr>
          <a:xfrm>
            <a:off x="5486400" y="31273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Calibri"/>
              </a:rPr>
              <a:t>Robustesse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4983480" y="3584520"/>
            <a:ext cx="3794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Gérer toutes les erreurs sans faire planter l'application. Messages clairs et exceptions personnalisées.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21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2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2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11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Organisation du Code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Architecture en packages — séparation des responsabilités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320040" y="1143000"/>
            <a:ext cx="1919880" cy="3520080"/>
          </a:xfrm>
          <a:prstGeom prst="roundRect">
            <a:avLst>
              <a:gd name="adj" fmla="val 476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Shape 5"/>
          <p:cNvSpPr/>
          <p:nvPr/>
        </p:nvSpPr>
        <p:spPr>
          <a:xfrm>
            <a:off x="320040" y="1143000"/>
            <a:ext cx="1919880" cy="50256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6"/>
          <p:cNvSpPr/>
          <p:nvPr/>
        </p:nvSpPr>
        <p:spPr>
          <a:xfrm>
            <a:off x="320040" y="114300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117"/>
                </a:solidFill>
                <a:latin typeface="Calibri"/>
              </a:rPr>
              <a:t>model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411480" y="1783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8"/>
          <p:cNvSpPr/>
          <p:nvPr/>
        </p:nvSpPr>
        <p:spPr>
          <a:xfrm>
            <a:off x="411480" y="1783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Grille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411480" y="2350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0"/>
          <p:cNvSpPr/>
          <p:nvPr/>
        </p:nvSpPr>
        <p:spPr>
          <a:xfrm>
            <a:off x="411480" y="2350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Dictionnaire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411480" y="2917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2"/>
          <p:cNvSpPr/>
          <p:nvPr/>
        </p:nvSpPr>
        <p:spPr>
          <a:xfrm>
            <a:off x="411480" y="2917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Coordonnee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365760" y="40233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Représentation des données du jeu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2468880" y="1143000"/>
            <a:ext cx="1919880" cy="3520080"/>
          </a:xfrm>
          <a:prstGeom prst="roundRect">
            <a:avLst>
              <a:gd name="adj" fmla="val 476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Shape 15"/>
          <p:cNvSpPr/>
          <p:nvPr/>
        </p:nvSpPr>
        <p:spPr>
          <a:xfrm>
            <a:off x="2468880" y="1143000"/>
            <a:ext cx="1919880" cy="502560"/>
          </a:xfrm>
          <a:prstGeom prst="roundRect">
            <a:avLst>
              <a:gd name="adj" fmla="val 18182"/>
            </a:avLst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6"/>
          <p:cNvSpPr/>
          <p:nvPr/>
        </p:nvSpPr>
        <p:spPr>
          <a:xfrm>
            <a:off x="2468880" y="114300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117"/>
                </a:solidFill>
                <a:latin typeface="Calibri"/>
              </a:rPr>
              <a:t>moteur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2560320" y="1783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8"/>
          <p:cNvSpPr/>
          <p:nvPr/>
        </p:nvSpPr>
        <p:spPr>
          <a:xfrm>
            <a:off x="2560320" y="1783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MoteurJeu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2560320" y="2350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20"/>
          <p:cNvSpPr/>
          <p:nvPr/>
        </p:nvSpPr>
        <p:spPr>
          <a:xfrm>
            <a:off x="2560320" y="2350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AppConsole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2560320" y="2917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2"/>
          <p:cNvSpPr/>
          <p:nvPr/>
        </p:nvSpPr>
        <p:spPr>
          <a:xfrm>
            <a:off x="2560320" y="2917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Tests unitaires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2514600" y="40233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Logique et vérification des coups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33" name="Shape 24"/>
          <p:cNvSpPr/>
          <p:nvPr/>
        </p:nvSpPr>
        <p:spPr>
          <a:xfrm>
            <a:off x="4617720" y="1143000"/>
            <a:ext cx="1919880" cy="3520080"/>
          </a:xfrm>
          <a:prstGeom prst="roundRect">
            <a:avLst>
              <a:gd name="adj" fmla="val 476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25"/>
          <p:cNvSpPr/>
          <p:nvPr/>
        </p:nvSpPr>
        <p:spPr>
          <a:xfrm>
            <a:off x="4617720" y="1143000"/>
            <a:ext cx="1919880" cy="502560"/>
          </a:xfrm>
          <a:prstGeom prst="roundRect">
            <a:avLst>
              <a:gd name="adj" fmla="val 18182"/>
            </a:avLst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6"/>
          <p:cNvSpPr/>
          <p:nvPr/>
        </p:nvSpPr>
        <p:spPr>
          <a:xfrm>
            <a:off x="4617720" y="114300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117"/>
                </a:solidFill>
                <a:latin typeface="Calibri"/>
              </a:rPr>
              <a:t>view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36" name="Shape 27"/>
          <p:cNvSpPr/>
          <p:nvPr/>
        </p:nvSpPr>
        <p:spPr>
          <a:xfrm>
            <a:off x="4709160" y="1783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28"/>
          <p:cNvSpPr/>
          <p:nvPr/>
        </p:nvSpPr>
        <p:spPr>
          <a:xfrm>
            <a:off x="4709160" y="1783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FenetrePrincipale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38" name="Shape 29"/>
          <p:cNvSpPr/>
          <p:nvPr/>
        </p:nvSpPr>
        <p:spPr>
          <a:xfrm>
            <a:off x="4709160" y="2350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30"/>
          <p:cNvSpPr/>
          <p:nvPr/>
        </p:nvSpPr>
        <p:spPr>
          <a:xfrm>
            <a:off x="4709160" y="2350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Composants Swing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40" name="Text 31"/>
          <p:cNvSpPr/>
          <p:nvPr/>
        </p:nvSpPr>
        <p:spPr>
          <a:xfrm>
            <a:off x="4663440" y="40233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Interface graphique utilisateur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41" name="Shape 32"/>
          <p:cNvSpPr/>
          <p:nvPr/>
        </p:nvSpPr>
        <p:spPr>
          <a:xfrm>
            <a:off x="6766560" y="1143000"/>
            <a:ext cx="1919880" cy="3520080"/>
          </a:xfrm>
          <a:prstGeom prst="roundRect">
            <a:avLst>
              <a:gd name="adj" fmla="val 476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33"/>
          <p:cNvSpPr/>
          <p:nvPr/>
        </p:nvSpPr>
        <p:spPr>
          <a:xfrm>
            <a:off x="6766560" y="1143000"/>
            <a:ext cx="1919880" cy="502560"/>
          </a:xfrm>
          <a:prstGeom prst="roundRect">
            <a:avLst>
              <a:gd name="adj" fmla="val 18182"/>
            </a:avLst>
          </a:prstGeom>
          <a:solidFill>
            <a:srgbClr val="56d364"/>
          </a:solidFill>
          <a:ln w="1270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34"/>
          <p:cNvSpPr/>
          <p:nvPr/>
        </p:nvSpPr>
        <p:spPr>
          <a:xfrm>
            <a:off x="6766560" y="114300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117"/>
                </a:solidFill>
                <a:latin typeface="Calibri"/>
              </a:rPr>
              <a:t>exception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44" name="Shape 35"/>
          <p:cNvSpPr/>
          <p:nvPr/>
        </p:nvSpPr>
        <p:spPr>
          <a:xfrm>
            <a:off x="6858000" y="1783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36"/>
          <p:cNvSpPr/>
          <p:nvPr/>
        </p:nvSpPr>
        <p:spPr>
          <a:xfrm>
            <a:off x="6858000" y="1783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CoordInvalidesException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46" name="Shape 37"/>
          <p:cNvSpPr/>
          <p:nvPr/>
        </p:nvSpPr>
        <p:spPr>
          <a:xfrm>
            <a:off x="6858000" y="2350080"/>
            <a:ext cx="1737000" cy="45684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635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38"/>
          <p:cNvSpPr/>
          <p:nvPr/>
        </p:nvSpPr>
        <p:spPr>
          <a:xfrm>
            <a:off x="6858000" y="2350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AlignementInvalideException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6812280" y="40233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Gestion personnalisée des erreurs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49" name="Shape 40"/>
          <p:cNvSpPr/>
          <p:nvPr/>
        </p:nvSpPr>
        <p:spPr>
          <a:xfrm>
            <a:off x="2240280" y="2926080"/>
            <a:ext cx="228600" cy="360"/>
          </a:xfrm>
          <a:prstGeom prst="line">
            <a:avLst/>
          </a:prstGeom>
          <a:ln w="12700">
            <a:solidFill>
              <a:srgbClr val="8b949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41"/>
          <p:cNvSpPr/>
          <p:nvPr/>
        </p:nvSpPr>
        <p:spPr>
          <a:xfrm>
            <a:off x="4389120" y="2926080"/>
            <a:ext cx="228600" cy="360"/>
          </a:xfrm>
          <a:prstGeom prst="line">
            <a:avLst/>
          </a:prstGeom>
          <a:ln w="12700">
            <a:solidFill>
              <a:srgbClr val="8b949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42"/>
          <p:cNvSpPr/>
          <p:nvPr/>
        </p:nvSpPr>
        <p:spPr>
          <a:xfrm>
            <a:off x="6537960" y="2926080"/>
            <a:ext cx="228600" cy="360"/>
          </a:xfrm>
          <a:prstGeom prst="line">
            <a:avLst/>
          </a:prstGeom>
          <a:ln w="12700">
            <a:solidFill>
              <a:srgbClr val="8b949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43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44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45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55" name="Text 46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3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8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59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Le Modèle de Données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Classes du package model et leurs responsabilités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320040" y="1143000"/>
            <a:ext cx="2697120" cy="3565800"/>
          </a:xfrm>
          <a:prstGeom prst="roundRect">
            <a:avLst>
              <a:gd name="adj" fmla="val 3390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5"/>
          <p:cNvSpPr/>
          <p:nvPr/>
        </p:nvSpPr>
        <p:spPr>
          <a:xfrm>
            <a:off x="320040" y="1143000"/>
            <a:ext cx="2697120" cy="45684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6"/>
          <p:cNvSpPr/>
          <p:nvPr/>
        </p:nvSpPr>
        <p:spPr>
          <a:xfrm>
            <a:off x="320040" y="1143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Grille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429840" y="1874520"/>
            <a:ext cx="45360" cy="14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8"/>
          <p:cNvSpPr/>
          <p:nvPr/>
        </p:nvSpPr>
        <p:spPr>
          <a:xfrm>
            <a:off x="576000" y="179208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char[][] cells (10×10)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429840" y="2350080"/>
            <a:ext cx="45360" cy="14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0"/>
          <p:cNvSpPr/>
          <p:nvPr/>
        </p:nvSpPr>
        <p:spPr>
          <a:xfrm>
            <a:off x="576000" y="22676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void placerMot(mot, coord1, coord2)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429840" y="2825640"/>
            <a:ext cx="45360" cy="14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2"/>
          <p:cNvSpPr/>
          <p:nvPr/>
        </p:nvSpPr>
        <p:spPr>
          <a:xfrm>
            <a:off x="576000" y="274320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char getLetter(ligne, col)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429840" y="3300840"/>
            <a:ext cx="45360" cy="14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4"/>
          <p:cNvSpPr/>
          <p:nvPr/>
        </p:nvSpPr>
        <p:spPr>
          <a:xfrm>
            <a:off x="576000" y="321876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void genererFond()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457200" y="3703320"/>
            <a:ext cx="2423160" cy="360"/>
          </a:xfrm>
          <a:prstGeom prst="line">
            <a:avLst/>
          </a:prstGeom>
          <a:ln w="6350">
            <a:solidFill>
              <a:srgbClr val="00b4d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6"/>
          <p:cNvSpPr/>
          <p:nvPr/>
        </p:nvSpPr>
        <p:spPr>
          <a:xfrm>
            <a:off x="457200" y="374904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Structure centrale du jeu. Contient toutes les lettres visibles par le joueur.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74" name="Shape 17"/>
          <p:cNvSpPr/>
          <p:nvPr/>
        </p:nvSpPr>
        <p:spPr>
          <a:xfrm>
            <a:off x="3200400" y="1143000"/>
            <a:ext cx="2697120" cy="3565800"/>
          </a:xfrm>
          <a:prstGeom prst="roundRect">
            <a:avLst>
              <a:gd name="adj" fmla="val 3390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Shape 18"/>
          <p:cNvSpPr/>
          <p:nvPr/>
        </p:nvSpPr>
        <p:spPr>
          <a:xfrm>
            <a:off x="3200400" y="1143000"/>
            <a:ext cx="2697120" cy="456840"/>
          </a:xfrm>
          <a:prstGeom prst="roundRect">
            <a:avLst>
              <a:gd name="adj" fmla="val 20000"/>
            </a:avLst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9"/>
          <p:cNvSpPr/>
          <p:nvPr/>
        </p:nvSpPr>
        <p:spPr>
          <a:xfrm>
            <a:off x="3200400" y="1143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Dictionnaire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77" name="Shape 20"/>
          <p:cNvSpPr/>
          <p:nvPr/>
        </p:nvSpPr>
        <p:spPr>
          <a:xfrm>
            <a:off x="3310200" y="1874520"/>
            <a:ext cx="45360" cy="1458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1"/>
          <p:cNvSpPr/>
          <p:nvPr/>
        </p:nvSpPr>
        <p:spPr>
          <a:xfrm>
            <a:off x="3456360" y="179208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List&lt;String&gt; tousLesMots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79" name="Shape 22"/>
          <p:cNvSpPr/>
          <p:nvPr/>
        </p:nvSpPr>
        <p:spPr>
          <a:xfrm>
            <a:off x="3310200" y="2350080"/>
            <a:ext cx="45360" cy="1458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23"/>
          <p:cNvSpPr/>
          <p:nvPr/>
        </p:nvSpPr>
        <p:spPr>
          <a:xfrm>
            <a:off x="3456360" y="22676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List&lt;String&gt; motsRestants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81" name="Shape 24"/>
          <p:cNvSpPr/>
          <p:nvPr/>
        </p:nvSpPr>
        <p:spPr>
          <a:xfrm>
            <a:off x="3310200" y="2825640"/>
            <a:ext cx="45360" cy="1458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25"/>
          <p:cNvSpPr/>
          <p:nvPr/>
        </p:nvSpPr>
        <p:spPr>
          <a:xfrm>
            <a:off x="3456360" y="274320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List&lt;String&gt; motsTrouves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83" name="Shape 26"/>
          <p:cNvSpPr/>
          <p:nvPr/>
        </p:nvSpPr>
        <p:spPr>
          <a:xfrm>
            <a:off x="3310200" y="3300840"/>
            <a:ext cx="45360" cy="1458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27"/>
          <p:cNvSpPr/>
          <p:nvPr/>
        </p:nvSpPr>
        <p:spPr>
          <a:xfrm>
            <a:off x="3456360" y="321876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boolean estTrouve(mot)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85" name="Shape 28"/>
          <p:cNvSpPr/>
          <p:nvPr/>
        </p:nvSpPr>
        <p:spPr>
          <a:xfrm>
            <a:off x="3337560" y="3703320"/>
            <a:ext cx="2423160" cy="360"/>
          </a:xfrm>
          <a:prstGeom prst="line">
            <a:avLst/>
          </a:prstGeom>
          <a:ln w="6350">
            <a:solidFill>
              <a:srgbClr val="bc8c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9"/>
          <p:cNvSpPr/>
          <p:nvPr/>
        </p:nvSpPr>
        <p:spPr>
          <a:xfrm>
            <a:off x="3337560" y="374904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Stocke l'état de progression. Sépare mots trouvés et mots restants à chaque coup.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87" name="Shape 30"/>
          <p:cNvSpPr/>
          <p:nvPr/>
        </p:nvSpPr>
        <p:spPr>
          <a:xfrm>
            <a:off x="6080760" y="1143000"/>
            <a:ext cx="2697120" cy="3565800"/>
          </a:xfrm>
          <a:prstGeom prst="roundRect">
            <a:avLst>
              <a:gd name="adj" fmla="val 3390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Shape 31"/>
          <p:cNvSpPr/>
          <p:nvPr/>
        </p:nvSpPr>
        <p:spPr>
          <a:xfrm>
            <a:off x="6080760" y="1143000"/>
            <a:ext cx="2697120" cy="456840"/>
          </a:xfrm>
          <a:prstGeom prst="roundRect">
            <a:avLst>
              <a:gd name="adj" fmla="val 20000"/>
            </a:avLst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32"/>
          <p:cNvSpPr/>
          <p:nvPr/>
        </p:nvSpPr>
        <p:spPr>
          <a:xfrm>
            <a:off x="6080760" y="1143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Coordonnee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90" name="Shape 33"/>
          <p:cNvSpPr/>
          <p:nvPr/>
        </p:nvSpPr>
        <p:spPr>
          <a:xfrm>
            <a:off x="6190560" y="1874520"/>
            <a:ext cx="45360" cy="14580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34"/>
          <p:cNvSpPr/>
          <p:nvPr/>
        </p:nvSpPr>
        <p:spPr>
          <a:xfrm>
            <a:off x="6336720" y="179208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int ligne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92" name="Shape 35"/>
          <p:cNvSpPr/>
          <p:nvPr/>
        </p:nvSpPr>
        <p:spPr>
          <a:xfrm>
            <a:off x="6190560" y="2350080"/>
            <a:ext cx="45360" cy="14580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36"/>
          <p:cNvSpPr/>
          <p:nvPr/>
        </p:nvSpPr>
        <p:spPr>
          <a:xfrm>
            <a:off x="6336720" y="22676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int colonne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94" name="Shape 37"/>
          <p:cNvSpPr/>
          <p:nvPr/>
        </p:nvSpPr>
        <p:spPr>
          <a:xfrm>
            <a:off x="6190560" y="2825640"/>
            <a:ext cx="45360" cy="14580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38"/>
          <p:cNvSpPr/>
          <p:nvPr/>
        </p:nvSpPr>
        <p:spPr>
          <a:xfrm>
            <a:off x="6336720" y="274320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boolean estValide()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96" name="Shape 39"/>
          <p:cNvSpPr/>
          <p:nvPr/>
        </p:nvSpPr>
        <p:spPr>
          <a:xfrm>
            <a:off x="6190560" y="3300840"/>
            <a:ext cx="45360" cy="14580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0"/>
          <p:cNvSpPr/>
          <p:nvPr/>
        </p:nvSpPr>
        <p:spPr>
          <a:xfrm>
            <a:off x="6336720" y="321876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String toString()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98" name="Shape 41"/>
          <p:cNvSpPr/>
          <p:nvPr/>
        </p:nvSpPr>
        <p:spPr>
          <a:xfrm>
            <a:off x="6217920" y="3703320"/>
            <a:ext cx="2423160" cy="360"/>
          </a:xfrm>
          <a:prstGeom prst="line">
            <a:avLst/>
          </a:prstGeom>
          <a:ln w="6350">
            <a:solidFill>
              <a:srgbClr val="ffa657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42"/>
          <p:cNvSpPr/>
          <p:nvPr/>
        </p:nvSpPr>
        <p:spPr>
          <a:xfrm>
            <a:off x="6217920" y="374904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Couple ligne/colonne. Validation d'appartenance à la grille intégrée.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00" name="Shape 43"/>
          <p:cNvSpPr/>
          <p:nvPr/>
        </p:nvSpPr>
        <p:spPr>
          <a:xfrm>
            <a:off x="320040" y="4617720"/>
            <a:ext cx="8503560" cy="200880"/>
          </a:xfrm>
          <a:prstGeom prst="roundRect">
            <a:avLst>
              <a:gd name="adj" fmla="val 22727"/>
            </a:avLst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44"/>
          <p:cNvSpPr/>
          <p:nvPr/>
        </p:nvSpPr>
        <p:spPr>
          <a:xfrm>
            <a:off x="411480" y="461772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alibri"/>
              </a:rPr>
              <a:t>💡  </a:t>
            </a:r>
            <a:r>
              <a:rPr b="0" lang="en-US" sz="950" spc="-1" strike="noStrike">
                <a:solidFill>
                  <a:srgbClr val="00b4d8"/>
                </a:solidFill>
                <a:latin typeface="Calibri"/>
              </a:rPr>
              <a:t>Les mots sont stockés en MAJUSCULES — cela simplifie les comparaisons et évite les erreurs de casse.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202" name="Shape 45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46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47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05" name="Text 48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4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09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Le Moteur du Jeu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MoteurJeu — cœur de la logique de vérification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365760" y="1188720"/>
            <a:ext cx="548280" cy="548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5"/>
          <p:cNvSpPr/>
          <p:nvPr/>
        </p:nvSpPr>
        <p:spPr>
          <a:xfrm>
            <a:off x="365760" y="11887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1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13" name="Shape 6"/>
          <p:cNvSpPr/>
          <p:nvPr/>
        </p:nvSpPr>
        <p:spPr>
          <a:xfrm>
            <a:off x="640080" y="1737360"/>
            <a:ext cx="360" cy="365760"/>
          </a:xfrm>
          <a:prstGeom prst="line">
            <a:avLst/>
          </a:prstGeom>
          <a:ln w="12700">
            <a:solidFill>
              <a:srgbClr val="8b949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7"/>
          <p:cNvSpPr/>
          <p:nvPr/>
        </p:nvSpPr>
        <p:spPr>
          <a:xfrm>
            <a:off x="1097280" y="1188720"/>
            <a:ext cx="5120280" cy="6854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Text 8"/>
          <p:cNvSpPr/>
          <p:nvPr/>
        </p:nvSpPr>
        <p:spPr>
          <a:xfrm>
            <a:off x="1234440" y="12434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Réception des coordonnées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1234440" y="15271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Le joueur saisit la case de départ et la case de fin. Le moteur reçoit deux objets Coordonnee.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365760" y="2103120"/>
            <a:ext cx="548280" cy="54828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1"/>
          <p:cNvSpPr/>
          <p:nvPr/>
        </p:nvSpPr>
        <p:spPr>
          <a:xfrm>
            <a:off x="36576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2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19" name="Shape 12"/>
          <p:cNvSpPr/>
          <p:nvPr/>
        </p:nvSpPr>
        <p:spPr>
          <a:xfrm>
            <a:off x="640080" y="2651760"/>
            <a:ext cx="360" cy="365760"/>
          </a:xfrm>
          <a:prstGeom prst="line">
            <a:avLst/>
          </a:prstGeom>
          <a:ln w="12700">
            <a:solidFill>
              <a:srgbClr val="8b949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13"/>
          <p:cNvSpPr/>
          <p:nvPr/>
        </p:nvSpPr>
        <p:spPr>
          <a:xfrm>
            <a:off x="1097280" y="2103120"/>
            <a:ext cx="5120280" cy="6854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bc8c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Text 14"/>
          <p:cNvSpPr/>
          <p:nvPr/>
        </p:nvSpPr>
        <p:spPr>
          <a:xfrm>
            <a:off x="1234440" y="21578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Validation de la position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1234440" y="24415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Vérifie que les coordonnées sont bien dans la grille 10×10. Lève CoordonneesInvalidesException sinon.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365760" y="3017520"/>
            <a:ext cx="548280" cy="54828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7"/>
          <p:cNvSpPr/>
          <p:nvPr/>
        </p:nvSpPr>
        <p:spPr>
          <a:xfrm>
            <a:off x="365760" y="30175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3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25" name="Shape 18"/>
          <p:cNvSpPr/>
          <p:nvPr/>
        </p:nvSpPr>
        <p:spPr>
          <a:xfrm>
            <a:off x="640080" y="3566160"/>
            <a:ext cx="360" cy="365760"/>
          </a:xfrm>
          <a:prstGeom prst="line">
            <a:avLst/>
          </a:prstGeom>
          <a:ln w="12700">
            <a:solidFill>
              <a:srgbClr val="8b949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9"/>
          <p:cNvSpPr/>
          <p:nvPr/>
        </p:nvSpPr>
        <p:spPr>
          <a:xfrm>
            <a:off x="1097280" y="3017520"/>
            <a:ext cx="5120280" cy="6854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ffa657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7" name="Text 20"/>
          <p:cNvSpPr/>
          <p:nvPr/>
        </p:nvSpPr>
        <p:spPr>
          <a:xfrm>
            <a:off x="1234440" y="30722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Vérification de l'alignement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28" name="Text 21"/>
          <p:cNvSpPr/>
          <p:nvPr/>
        </p:nvSpPr>
        <p:spPr>
          <a:xfrm>
            <a:off x="1234440" y="33559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Accepte uniquement les directions horizontales, verticales et diagonales. Lance AlignementInvalideException sinon.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29" name="Shape 22"/>
          <p:cNvSpPr/>
          <p:nvPr/>
        </p:nvSpPr>
        <p:spPr>
          <a:xfrm>
            <a:off x="365760" y="3931920"/>
            <a:ext cx="548280" cy="548280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3"/>
          <p:cNvSpPr/>
          <p:nvPr/>
        </p:nvSpPr>
        <p:spPr>
          <a:xfrm>
            <a:off x="365760" y="3931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117"/>
                </a:solidFill>
                <a:latin typeface="Calibri"/>
              </a:rPr>
              <a:t>4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31" name="Shape 24"/>
          <p:cNvSpPr/>
          <p:nvPr/>
        </p:nvSpPr>
        <p:spPr>
          <a:xfrm>
            <a:off x="1097280" y="3931920"/>
            <a:ext cx="5120280" cy="6854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56d36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Text 25"/>
          <p:cNvSpPr/>
          <p:nvPr/>
        </p:nvSpPr>
        <p:spPr>
          <a:xfrm>
            <a:off x="1234440" y="39866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Lecture du mot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33" name="Text 26"/>
          <p:cNvSpPr/>
          <p:nvPr/>
        </p:nvSpPr>
        <p:spPr>
          <a:xfrm>
            <a:off x="1234440" y="42703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Lit les lettres dans les deux sens entre début et fin. Compare au dictionnaire (mots restants).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34" name="Shape 27"/>
          <p:cNvSpPr/>
          <p:nvPr/>
        </p:nvSpPr>
        <p:spPr>
          <a:xfrm>
            <a:off x="6492240" y="1188720"/>
            <a:ext cx="2331360" cy="3565800"/>
          </a:xfrm>
          <a:prstGeom prst="roundRect">
            <a:avLst>
              <a:gd name="adj" fmla="val 3922"/>
            </a:avLst>
          </a:prstGeom>
          <a:solidFill>
            <a:srgbClr val="0d1117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Text 28"/>
          <p:cNvSpPr/>
          <p:nvPr/>
        </p:nvSpPr>
        <p:spPr>
          <a:xfrm>
            <a:off x="6492240" y="11887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</a:rPr>
              <a:t>MoteurJeu.java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36" name="Text 29"/>
          <p:cNvSpPr/>
          <p:nvPr/>
        </p:nvSpPr>
        <p:spPr>
          <a:xfrm>
            <a:off x="6583680" y="155448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String verifier(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37" name="Text 30"/>
          <p:cNvSpPr/>
          <p:nvPr/>
        </p:nvSpPr>
        <p:spPr>
          <a:xfrm>
            <a:off x="6583680" y="18104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8b949e"/>
                </a:solidFill>
                <a:latin typeface="Courier New"/>
                <a:ea typeface="Courier New"/>
              </a:rPr>
              <a:t>Coordonnee c1,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38" name="Text 31"/>
          <p:cNvSpPr/>
          <p:nvPr/>
        </p:nvSpPr>
        <p:spPr>
          <a:xfrm>
            <a:off x="6583680" y="206640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8b949e"/>
                </a:solidFill>
                <a:latin typeface="Courier New"/>
                <a:ea typeface="Courier New"/>
              </a:rPr>
              <a:t>Coordonnee c2)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39" name="Text 32"/>
          <p:cNvSpPr/>
          <p:nvPr/>
        </p:nvSpPr>
        <p:spPr>
          <a:xfrm>
            <a:off x="6583680" y="232272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{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0" name="Text 33"/>
          <p:cNvSpPr/>
          <p:nvPr/>
        </p:nvSpPr>
        <p:spPr>
          <a:xfrm>
            <a:off x="6583680" y="257868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a657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ffa657"/>
                </a:solidFill>
                <a:latin typeface="Courier New"/>
                <a:ea typeface="Courier New"/>
              </a:rPr>
              <a:t>valider(c1, c2);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1" name="Text 34"/>
          <p:cNvSpPr/>
          <p:nvPr/>
        </p:nvSpPr>
        <p:spPr>
          <a:xfrm>
            <a:off x="6583680" y="28346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String mot =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2" name="Text 35"/>
          <p:cNvSpPr/>
          <p:nvPr/>
        </p:nvSpPr>
        <p:spPr>
          <a:xfrm>
            <a:off x="6583680" y="309060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6d364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56d364"/>
                </a:solidFill>
                <a:latin typeface="Courier New"/>
                <a:ea typeface="Courier New"/>
              </a:rPr>
              <a:t>lireMot(c1, c2);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3" name="Text 36"/>
          <p:cNvSpPr/>
          <p:nvPr/>
        </p:nvSpPr>
        <p:spPr>
          <a:xfrm>
            <a:off x="6583680" y="334656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if (dico.contient(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4" name="Text 37"/>
          <p:cNvSpPr/>
          <p:nvPr/>
        </p:nvSpPr>
        <p:spPr>
          <a:xfrm>
            <a:off x="6583680" y="360288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      </a:t>
            </a: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mot))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5" name="Text 38"/>
          <p:cNvSpPr/>
          <p:nvPr/>
        </p:nvSpPr>
        <p:spPr>
          <a:xfrm>
            <a:off x="6583680" y="38588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00b4d8"/>
                </a:solidFill>
                <a:latin typeface="Courier New"/>
                <a:ea typeface="Courier New"/>
              </a:rPr>
              <a:t>dico.retirer(mot);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6" name="Text 39"/>
          <p:cNvSpPr/>
          <p:nvPr/>
        </p:nvSpPr>
        <p:spPr>
          <a:xfrm>
            <a:off x="6583680" y="411480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6fc"/>
                </a:solidFill>
                <a:latin typeface="Courier New"/>
                <a:ea typeface="Courier New"/>
              </a:rPr>
              <a:t>}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47" name="Shape 40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41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42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50" name="Text 43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5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54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Score &amp; Progression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Système de points et suivi de l'avancement du joueur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365760" y="1143000"/>
            <a:ext cx="2651400" cy="1645560"/>
          </a:xfrm>
          <a:prstGeom prst="roundRect">
            <a:avLst>
              <a:gd name="adj" fmla="val 555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Shape 5"/>
          <p:cNvSpPr/>
          <p:nvPr/>
        </p:nvSpPr>
        <p:spPr>
          <a:xfrm>
            <a:off x="365760" y="1143000"/>
            <a:ext cx="2651400" cy="63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6"/>
          <p:cNvSpPr/>
          <p:nvPr/>
        </p:nvSpPr>
        <p:spPr>
          <a:xfrm>
            <a:off x="365760" y="1234440"/>
            <a:ext cx="265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00b4d8"/>
                </a:solidFill>
                <a:latin typeface="Calibri"/>
              </a:rPr>
              <a:t>×10</a:t>
            </a:r>
            <a:endParaRPr b="0" lang="fr-FR" sz="4600" spc="-1" strike="noStrike"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365760" y="19386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6fc"/>
                </a:solidFill>
                <a:latin typeface="Calibri"/>
              </a:rPr>
              <a:t>points par lettre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457200" y="22860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Chaque lettre d'un mot vaut 10 points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3246120" y="1143000"/>
            <a:ext cx="2651400" cy="1645560"/>
          </a:xfrm>
          <a:prstGeom prst="roundRect">
            <a:avLst>
              <a:gd name="adj" fmla="val 555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Shape 10"/>
          <p:cNvSpPr/>
          <p:nvPr/>
        </p:nvSpPr>
        <p:spPr>
          <a:xfrm>
            <a:off x="3246120" y="1143000"/>
            <a:ext cx="2651400" cy="63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1"/>
          <p:cNvSpPr/>
          <p:nvPr/>
        </p:nvSpPr>
        <p:spPr>
          <a:xfrm>
            <a:off x="3246120" y="1234440"/>
            <a:ext cx="265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a657"/>
                </a:solidFill>
                <a:latin typeface="Calibri"/>
              </a:rPr>
              <a:t>60</a:t>
            </a:r>
            <a:endParaRPr b="0" lang="fr-FR" sz="4600" spc="-1" strike="noStrike">
              <a:latin typeface="Arial"/>
            </a:endParaRPr>
          </a:p>
        </p:txBody>
      </p:sp>
      <p:sp>
        <p:nvSpPr>
          <p:cNvPr id="264" name="Text 12"/>
          <p:cNvSpPr/>
          <p:nvPr/>
        </p:nvSpPr>
        <p:spPr>
          <a:xfrm>
            <a:off x="3246120" y="19386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6fc"/>
                </a:solidFill>
                <a:latin typeface="Calibri"/>
              </a:rPr>
              <a:t>points pour PYTHON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3337560" y="22860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6 lettres × 10 = 60 points (exemple)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66" name="Shape 14"/>
          <p:cNvSpPr/>
          <p:nvPr/>
        </p:nvSpPr>
        <p:spPr>
          <a:xfrm>
            <a:off x="6126480" y="1143000"/>
            <a:ext cx="2651400" cy="1645560"/>
          </a:xfrm>
          <a:prstGeom prst="roundRect">
            <a:avLst>
              <a:gd name="adj" fmla="val 555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7" name="Shape 15"/>
          <p:cNvSpPr/>
          <p:nvPr/>
        </p:nvSpPr>
        <p:spPr>
          <a:xfrm>
            <a:off x="6126480" y="1143000"/>
            <a:ext cx="2651400" cy="63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6"/>
          <p:cNvSpPr/>
          <p:nvPr/>
        </p:nvSpPr>
        <p:spPr>
          <a:xfrm>
            <a:off x="6126480" y="1234440"/>
            <a:ext cx="265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bc8cff"/>
                </a:solidFill>
                <a:latin typeface="Calibri"/>
              </a:rPr>
              <a:t>∞</a:t>
            </a:r>
            <a:endParaRPr b="0" lang="fr-FR" sz="4600" spc="-1" strike="noStrike"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6126480" y="19386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6fc"/>
                </a:solidFill>
                <a:latin typeface="Calibri"/>
              </a:rPr>
              <a:t>mots possibles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70" name="Text 18"/>
          <p:cNvSpPr/>
          <p:nvPr/>
        </p:nvSpPr>
        <p:spPr>
          <a:xfrm>
            <a:off x="6217920" y="22860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Progression : mots trouvés / total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71" name="Shape 19"/>
          <p:cNvSpPr/>
          <p:nvPr/>
        </p:nvSpPr>
        <p:spPr>
          <a:xfrm>
            <a:off x="365760" y="2834640"/>
            <a:ext cx="8412120" cy="63972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Text 20"/>
          <p:cNvSpPr/>
          <p:nvPr/>
        </p:nvSpPr>
        <p:spPr>
          <a:xfrm>
            <a:off x="594360" y="283464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Formule de score 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73" name="Text 21"/>
          <p:cNvSpPr/>
          <p:nvPr/>
        </p:nvSpPr>
        <p:spPr>
          <a:xfrm>
            <a:off x="2377440" y="2834640"/>
            <a:ext cx="6217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Courier New"/>
                <a:ea typeface="Courier New"/>
              </a:rPr>
              <a:t>score  +=  longueur_du_mot  ×  10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74" name="Shape 22"/>
          <p:cNvSpPr/>
          <p:nvPr/>
        </p:nvSpPr>
        <p:spPr>
          <a:xfrm>
            <a:off x="365760" y="3657600"/>
            <a:ext cx="8412120" cy="1005480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Text 23"/>
          <p:cNvSpPr/>
          <p:nvPr/>
        </p:nvSpPr>
        <p:spPr>
          <a:xfrm>
            <a:off x="594360" y="37033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6fc"/>
                </a:solidFill>
                <a:latin typeface="Calibri"/>
              </a:rPr>
              <a:t>Exemple de progression — 4 mots trouvés sur 8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76" name="Shape 24"/>
          <p:cNvSpPr/>
          <p:nvPr/>
        </p:nvSpPr>
        <p:spPr>
          <a:xfrm>
            <a:off x="594360" y="4114800"/>
            <a:ext cx="7863480" cy="347040"/>
          </a:xfrm>
          <a:prstGeom prst="roundRect">
            <a:avLst>
              <a:gd name="adj" fmla="val 26316"/>
            </a:avLst>
          </a:prstGeom>
          <a:solidFill>
            <a:srgbClr val="0d1117"/>
          </a:solidFill>
          <a:ln w="635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25"/>
          <p:cNvSpPr/>
          <p:nvPr/>
        </p:nvSpPr>
        <p:spPr>
          <a:xfrm>
            <a:off x="594360" y="4114800"/>
            <a:ext cx="3931560" cy="347040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26"/>
          <p:cNvSpPr/>
          <p:nvPr/>
        </p:nvSpPr>
        <p:spPr>
          <a:xfrm>
            <a:off x="594360" y="4114800"/>
            <a:ext cx="7863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117"/>
                </a:solidFill>
                <a:latin typeface="Calibri"/>
              </a:rPr>
              <a:t>4 / 8 mots — 50%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79" name="Shape 27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28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29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82" name="Text 30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6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86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Interface Graphique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FenetrePrincipale — composants Swing et interactions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365760" y="1143000"/>
            <a:ext cx="4937400" cy="3657240"/>
          </a:xfrm>
          <a:prstGeom prst="roundRect">
            <a:avLst>
              <a:gd name="adj" fmla="val 2500"/>
            </a:avLst>
          </a:prstGeom>
          <a:solidFill>
            <a:srgbClr val="0d1117"/>
          </a:solidFill>
          <a:ln w="12700">
            <a:solidFill>
              <a:srgbClr val="8b949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Shape 5"/>
          <p:cNvSpPr/>
          <p:nvPr/>
        </p:nvSpPr>
        <p:spPr>
          <a:xfrm>
            <a:off x="365760" y="1143000"/>
            <a:ext cx="4937400" cy="365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6"/>
          <p:cNvSpPr/>
          <p:nvPr/>
        </p:nvSpPr>
        <p:spPr>
          <a:xfrm>
            <a:off x="457200" y="11430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● ● ●   </a:t>
            </a: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388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8"/>
          <p:cNvSpPr/>
          <p:nvPr/>
        </p:nvSpPr>
        <p:spPr>
          <a:xfrm>
            <a:off x="4388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A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8960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0"/>
          <p:cNvSpPr/>
          <p:nvPr/>
        </p:nvSpPr>
        <p:spPr>
          <a:xfrm>
            <a:off x="8960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H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13532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2"/>
          <p:cNvSpPr/>
          <p:nvPr/>
        </p:nvSpPr>
        <p:spPr>
          <a:xfrm>
            <a:off x="13532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O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18104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14"/>
          <p:cNvSpPr/>
          <p:nvPr/>
        </p:nvSpPr>
        <p:spPr>
          <a:xfrm>
            <a:off x="18104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V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22676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16"/>
          <p:cNvSpPr/>
          <p:nvPr/>
        </p:nvSpPr>
        <p:spPr>
          <a:xfrm>
            <a:off x="22676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C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01" name="Shape 17"/>
          <p:cNvSpPr/>
          <p:nvPr/>
        </p:nvSpPr>
        <p:spPr>
          <a:xfrm>
            <a:off x="27248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8"/>
          <p:cNvSpPr/>
          <p:nvPr/>
        </p:nvSpPr>
        <p:spPr>
          <a:xfrm>
            <a:off x="27248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J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03" name="Shape 19"/>
          <p:cNvSpPr/>
          <p:nvPr/>
        </p:nvSpPr>
        <p:spPr>
          <a:xfrm>
            <a:off x="31820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20"/>
          <p:cNvSpPr/>
          <p:nvPr/>
        </p:nvSpPr>
        <p:spPr>
          <a:xfrm>
            <a:off x="31820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Q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05" name="Shape 21"/>
          <p:cNvSpPr/>
          <p:nvPr/>
        </p:nvSpPr>
        <p:spPr>
          <a:xfrm>
            <a:off x="36392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22"/>
          <p:cNvSpPr/>
          <p:nvPr/>
        </p:nvSpPr>
        <p:spPr>
          <a:xfrm>
            <a:off x="36392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X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07" name="Shape 23"/>
          <p:cNvSpPr/>
          <p:nvPr/>
        </p:nvSpPr>
        <p:spPr>
          <a:xfrm>
            <a:off x="40964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24"/>
          <p:cNvSpPr/>
          <p:nvPr/>
        </p:nvSpPr>
        <p:spPr>
          <a:xfrm>
            <a:off x="40964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09" name="Shape 25"/>
          <p:cNvSpPr/>
          <p:nvPr/>
        </p:nvSpPr>
        <p:spPr>
          <a:xfrm>
            <a:off x="4553640" y="15728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26"/>
          <p:cNvSpPr/>
          <p:nvPr/>
        </p:nvSpPr>
        <p:spPr>
          <a:xfrm>
            <a:off x="4553640" y="15728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L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1" name="Shape 27"/>
          <p:cNvSpPr/>
          <p:nvPr/>
        </p:nvSpPr>
        <p:spPr>
          <a:xfrm>
            <a:off x="438840" y="197496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28"/>
          <p:cNvSpPr/>
          <p:nvPr/>
        </p:nvSpPr>
        <p:spPr>
          <a:xfrm>
            <a:off x="4388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3" name="Shape 29"/>
          <p:cNvSpPr/>
          <p:nvPr/>
        </p:nvSpPr>
        <p:spPr>
          <a:xfrm>
            <a:off x="896040" y="197496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30"/>
          <p:cNvSpPr/>
          <p:nvPr/>
        </p:nvSpPr>
        <p:spPr>
          <a:xfrm>
            <a:off x="8960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Z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5" name="Shape 31"/>
          <p:cNvSpPr/>
          <p:nvPr/>
        </p:nvSpPr>
        <p:spPr>
          <a:xfrm>
            <a:off x="1353240" y="1974960"/>
            <a:ext cx="429480" cy="374400"/>
          </a:xfrm>
          <a:prstGeom prst="rect">
            <a:avLst/>
          </a:prstGeom>
          <a:solidFill>
            <a:srgbClr val="00b4d8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32"/>
          <p:cNvSpPr/>
          <p:nvPr/>
        </p:nvSpPr>
        <p:spPr>
          <a:xfrm>
            <a:off x="13532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7" name="Shape 33"/>
          <p:cNvSpPr/>
          <p:nvPr/>
        </p:nvSpPr>
        <p:spPr>
          <a:xfrm>
            <a:off x="1810440" y="1974960"/>
            <a:ext cx="429480" cy="374400"/>
          </a:xfrm>
          <a:prstGeom prst="rect">
            <a:avLst/>
          </a:prstGeom>
          <a:solidFill>
            <a:srgbClr val="00b4d8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34"/>
          <p:cNvSpPr/>
          <p:nvPr/>
        </p:nvSpPr>
        <p:spPr>
          <a:xfrm>
            <a:off x="18104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W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9" name="Shape 35"/>
          <p:cNvSpPr/>
          <p:nvPr/>
        </p:nvSpPr>
        <p:spPr>
          <a:xfrm>
            <a:off x="2267640" y="1974960"/>
            <a:ext cx="429480" cy="374400"/>
          </a:xfrm>
          <a:prstGeom prst="rect">
            <a:avLst/>
          </a:prstGeom>
          <a:solidFill>
            <a:srgbClr val="00b4d8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36"/>
          <p:cNvSpPr/>
          <p:nvPr/>
        </p:nvSpPr>
        <p:spPr>
          <a:xfrm>
            <a:off x="22676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I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1" name="Shape 37"/>
          <p:cNvSpPr/>
          <p:nvPr/>
        </p:nvSpPr>
        <p:spPr>
          <a:xfrm>
            <a:off x="2724840" y="1974960"/>
            <a:ext cx="429480" cy="374400"/>
          </a:xfrm>
          <a:prstGeom prst="rect">
            <a:avLst/>
          </a:prstGeom>
          <a:solidFill>
            <a:srgbClr val="00b4d8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38"/>
          <p:cNvSpPr/>
          <p:nvPr/>
        </p:nvSpPr>
        <p:spPr>
          <a:xfrm>
            <a:off x="27248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3" name="Shape 39"/>
          <p:cNvSpPr/>
          <p:nvPr/>
        </p:nvSpPr>
        <p:spPr>
          <a:xfrm>
            <a:off x="3182040" y="1974960"/>
            <a:ext cx="429480" cy="374400"/>
          </a:xfrm>
          <a:prstGeom prst="rect">
            <a:avLst/>
          </a:prstGeom>
          <a:solidFill>
            <a:srgbClr val="00b4d8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40"/>
          <p:cNvSpPr/>
          <p:nvPr/>
        </p:nvSpPr>
        <p:spPr>
          <a:xfrm>
            <a:off x="31820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G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5" name="Shape 41"/>
          <p:cNvSpPr/>
          <p:nvPr/>
        </p:nvSpPr>
        <p:spPr>
          <a:xfrm>
            <a:off x="3639240" y="1974960"/>
            <a:ext cx="429480" cy="374400"/>
          </a:xfrm>
          <a:prstGeom prst="rect">
            <a:avLst/>
          </a:prstGeom>
          <a:solidFill>
            <a:srgbClr val="00b4d8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42"/>
          <p:cNvSpPr/>
          <p:nvPr/>
        </p:nvSpPr>
        <p:spPr>
          <a:xfrm>
            <a:off x="36392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P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7" name="Shape 43"/>
          <p:cNvSpPr/>
          <p:nvPr/>
        </p:nvSpPr>
        <p:spPr>
          <a:xfrm>
            <a:off x="4096440" y="197496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44"/>
          <p:cNvSpPr/>
          <p:nvPr/>
        </p:nvSpPr>
        <p:spPr>
          <a:xfrm>
            <a:off x="40964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W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9" name="Shape 45"/>
          <p:cNvSpPr/>
          <p:nvPr/>
        </p:nvSpPr>
        <p:spPr>
          <a:xfrm>
            <a:off x="4553640" y="197496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46"/>
          <p:cNvSpPr/>
          <p:nvPr/>
        </p:nvSpPr>
        <p:spPr>
          <a:xfrm>
            <a:off x="4553640" y="197496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1" name="Shape 47"/>
          <p:cNvSpPr/>
          <p:nvPr/>
        </p:nvSpPr>
        <p:spPr>
          <a:xfrm>
            <a:off x="4388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48"/>
          <p:cNvSpPr/>
          <p:nvPr/>
        </p:nvSpPr>
        <p:spPr>
          <a:xfrm>
            <a:off x="4388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K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3" name="Shape 49"/>
          <p:cNvSpPr/>
          <p:nvPr/>
        </p:nvSpPr>
        <p:spPr>
          <a:xfrm>
            <a:off x="8960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50"/>
          <p:cNvSpPr/>
          <p:nvPr/>
        </p:nvSpPr>
        <p:spPr>
          <a:xfrm>
            <a:off x="8960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5" name="Shape 51"/>
          <p:cNvSpPr/>
          <p:nvPr/>
        </p:nvSpPr>
        <p:spPr>
          <a:xfrm>
            <a:off x="13532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52"/>
          <p:cNvSpPr/>
          <p:nvPr/>
        </p:nvSpPr>
        <p:spPr>
          <a:xfrm>
            <a:off x="13532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Y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7" name="Shape 53"/>
          <p:cNvSpPr/>
          <p:nvPr/>
        </p:nvSpPr>
        <p:spPr>
          <a:xfrm>
            <a:off x="18104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54"/>
          <p:cNvSpPr/>
          <p:nvPr/>
        </p:nvSpPr>
        <p:spPr>
          <a:xfrm>
            <a:off x="18104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9" name="Shape 55"/>
          <p:cNvSpPr/>
          <p:nvPr/>
        </p:nvSpPr>
        <p:spPr>
          <a:xfrm>
            <a:off x="22676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56"/>
          <p:cNvSpPr/>
          <p:nvPr/>
        </p:nvSpPr>
        <p:spPr>
          <a:xfrm>
            <a:off x="22676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M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1" name="Shape 57"/>
          <p:cNvSpPr/>
          <p:nvPr/>
        </p:nvSpPr>
        <p:spPr>
          <a:xfrm>
            <a:off x="27248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58"/>
          <p:cNvSpPr/>
          <p:nvPr/>
        </p:nvSpPr>
        <p:spPr>
          <a:xfrm>
            <a:off x="27248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T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3" name="Shape 59"/>
          <p:cNvSpPr/>
          <p:nvPr/>
        </p:nvSpPr>
        <p:spPr>
          <a:xfrm>
            <a:off x="31820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60"/>
          <p:cNvSpPr/>
          <p:nvPr/>
        </p:nvSpPr>
        <p:spPr>
          <a:xfrm>
            <a:off x="31820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A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5" name="Shape 61"/>
          <p:cNvSpPr/>
          <p:nvPr/>
        </p:nvSpPr>
        <p:spPr>
          <a:xfrm>
            <a:off x="36392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62"/>
          <p:cNvSpPr/>
          <p:nvPr/>
        </p:nvSpPr>
        <p:spPr>
          <a:xfrm>
            <a:off x="36392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H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7" name="Shape 63"/>
          <p:cNvSpPr/>
          <p:nvPr/>
        </p:nvSpPr>
        <p:spPr>
          <a:xfrm>
            <a:off x="40964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64"/>
          <p:cNvSpPr/>
          <p:nvPr/>
        </p:nvSpPr>
        <p:spPr>
          <a:xfrm>
            <a:off x="40964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O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9" name="Shape 65"/>
          <p:cNvSpPr/>
          <p:nvPr/>
        </p:nvSpPr>
        <p:spPr>
          <a:xfrm>
            <a:off x="4553640" y="23774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66"/>
          <p:cNvSpPr/>
          <p:nvPr/>
        </p:nvSpPr>
        <p:spPr>
          <a:xfrm>
            <a:off x="4553640" y="23774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V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1" name="Shape 67"/>
          <p:cNvSpPr/>
          <p:nvPr/>
        </p:nvSpPr>
        <p:spPr>
          <a:xfrm>
            <a:off x="4388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68"/>
          <p:cNvSpPr/>
          <p:nvPr/>
        </p:nvSpPr>
        <p:spPr>
          <a:xfrm>
            <a:off x="4388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C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3" name="Shape 69"/>
          <p:cNvSpPr/>
          <p:nvPr/>
        </p:nvSpPr>
        <p:spPr>
          <a:xfrm>
            <a:off x="8960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70"/>
          <p:cNvSpPr/>
          <p:nvPr/>
        </p:nvSpPr>
        <p:spPr>
          <a:xfrm>
            <a:off x="8960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J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5" name="Shape 71"/>
          <p:cNvSpPr/>
          <p:nvPr/>
        </p:nvSpPr>
        <p:spPr>
          <a:xfrm>
            <a:off x="13532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72"/>
          <p:cNvSpPr/>
          <p:nvPr/>
        </p:nvSpPr>
        <p:spPr>
          <a:xfrm>
            <a:off x="13532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Q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7" name="Shape 73"/>
          <p:cNvSpPr/>
          <p:nvPr/>
        </p:nvSpPr>
        <p:spPr>
          <a:xfrm>
            <a:off x="18104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74"/>
          <p:cNvSpPr/>
          <p:nvPr/>
        </p:nvSpPr>
        <p:spPr>
          <a:xfrm>
            <a:off x="18104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X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9" name="Shape 75"/>
          <p:cNvSpPr/>
          <p:nvPr/>
        </p:nvSpPr>
        <p:spPr>
          <a:xfrm>
            <a:off x="22676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76"/>
          <p:cNvSpPr/>
          <p:nvPr/>
        </p:nvSpPr>
        <p:spPr>
          <a:xfrm>
            <a:off x="22676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1" name="Shape 77"/>
          <p:cNvSpPr/>
          <p:nvPr/>
        </p:nvSpPr>
        <p:spPr>
          <a:xfrm>
            <a:off x="27248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Text 78"/>
          <p:cNvSpPr/>
          <p:nvPr/>
        </p:nvSpPr>
        <p:spPr>
          <a:xfrm>
            <a:off x="27248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L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3" name="Shape 79"/>
          <p:cNvSpPr/>
          <p:nvPr/>
        </p:nvSpPr>
        <p:spPr>
          <a:xfrm>
            <a:off x="31820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80"/>
          <p:cNvSpPr/>
          <p:nvPr/>
        </p:nvSpPr>
        <p:spPr>
          <a:xfrm>
            <a:off x="31820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5" name="Shape 81"/>
          <p:cNvSpPr/>
          <p:nvPr/>
        </p:nvSpPr>
        <p:spPr>
          <a:xfrm>
            <a:off x="36392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82"/>
          <p:cNvSpPr/>
          <p:nvPr/>
        </p:nvSpPr>
        <p:spPr>
          <a:xfrm>
            <a:off x="36392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Z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7" name="Shape 83"/>
          <p:cNvSpPr/>
          <p:nvPr/>
        </p:nvSpPr>
        <p:spPr>
          <a:xfrm>
            <a:off x="40964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84"/>
          <p:cNvSpPr/>
          <p:nvPr/>
        </p:nvSpPr>
        <p:spPr>
          <a:xfrm>
            <a:off x="40964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G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9" name="Shape 85"/>
          <p:cNvSpPr/>
          <p:nvPr/>
        </p:nvSpPr>
        <p:spPr>
          <a:xfrm>
            <a:off x="4553640" y="277992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86"/>
          <p:cNvSpPr/>
          <p:nvPr/>
        </p:nvSpPr>
        <p:spPr>
          <a:xfrm>
            <a:off x="4553640" y="277992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71" name="Shape 87"/>
          <p:cNvSpPr/>
          <p:nvPr/>
        </p:nvSpPr>
        <p:spPr>
          <a:xfrm>
            <a:off x="4388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88"/>
          <p:cNvSpPr/>
          <p:nvPr/>
        </p:nvSpPr>
        <p:spPr>
          <a:xfrm>
            <a:off x="4388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U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73" name="Shape 89"/>
          <p:cNvSpPr/>
          <p:nvPr/>
        </p:nvSpPr>
        <p:spPr>
          <a:xfrm>
            <a:off x="8960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90"/>
          <p:cNvSpPr/>
          <p:nvPr/>
        </p:nvSpPr>
        <p:spPr>
          <a:xfrm>
            <a:off x="8960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B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75" name="Shape 91"/>
          <p:cNvSpPr/>
          <p:nvPr/>
        </p:nvSpPr>
        <p:spPr>
          <a:xfrm>
            <a:off x="13532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92"/>
          <p:cNvSpPr/>
          <p:nvPr/>
        </p:nvSpPr>
        <p:spPr>
          <a:xfrm>
            <a:off x="13532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I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77" name="Shape 93"/>
          <p:cNvSpPr/>
          <p:nvPr/>
        </p:nvSpPr>
        <p:spPr>
          <a:xfrm>
            <a:off x="18104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94"/>
          <p:cNvSpPr/>
          <p:nvPr/>
        </p:nvSpPr>
        <p:spPr>
          <a:xfrm>
            <a:off x="18104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P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79" name="Shape 95"/>
          <p:cNvSpPr/>
          <p:nvPr/>
        </p:nvSpPr>
        <p:spPr>
          <a:xfrm>
            <a:off x="22676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96"/>
          <p:cNvSpPr/>
          <p:nvPr/>
        </p:nvSpPr>
        <p:spPr>
          <a:xfrm>
            <a:off x="22676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W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1" name="Shape 97"/>
          <p:cNvSpPr/>
          <p:nvPr/>
        </p:nvSpPr>
        <p:spPr>
          <a:xfrm>
            <a:off x="27248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98"/>
          <p:cNvSpPr/>
          <p:nvPr/>
        </p:nvSpPr>
        <p:spPr>
          <a:xfrm>
            <a:off x="27248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3" name="Shape 99"/>
          <p:cNvSpPr/>
          <p:nvPr/>
        </p:nvSpPr>
        <p:spPr>
          <a:xfrm>
            <a:off x="31820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100"/>
          <p:cNvSpPr/>
          <p:nvPr/>
        </p:nvSpPr>
        <p:spPr>
          <a:xfrm>
            <a:off x="31820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K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5" name="Shape 101"/>
          <p:cNvSpPr/>
          <p:nvPr/>
        </p:nvSpPr>
        <p:spPr>
          <a:xfrm>
            <a:off x="36392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102"/>
          <p:cNvSpPr/>
          <p:nvPr/>
        </p:nvSpPr>
        <p:spPr>
          <a:xfrm>
            <a:off x="36392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7" name="Shape 103"/>
          <p:cNvSpPr/>
          <p:nvPr/>
        </p:nvSpPr>
        <p:spPr>
          <a:xfrm>
            <a:off x="40964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104"/>
          <p:cNvSpPr/>
          <p:nvPr/>
        </p:nvSpPr>
        <p:spPr>
          <a:xfrm>
            <a:off x="40964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Y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9" name="Shape 105"/>
          <p:cNvSpPr/>
          <p:nvPr/>
        </p:nvSpPr>
        <p:spPr>
          <a:xfrm>
            <a:off x="4553640" y="3182040"/>
            <a:ext cx="429480" cy="37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106"/>
          <p:cNvSpPr/>
          <p:nvPr/>
        </p:nvSpPr>
        <p:spPr>
          <a:xfrm>
            <a:off x="4553640" y="3182040"/>
            <a:ext cx="429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b949e"/>
                </a:solidFill>
                <a:latin typeface="Calibri"/>
              </a:rPr>
              <a:t>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91" name="Shape 107"/>
          <p:cNvSpPr/>
          <p:nvPr/>
        </p:nvSpPr>
        <p:spPr>
          <a:xfrm>
            <a:off x="438840" y="3611880"/>
            <a:ext cx="4791240" cy="228240"/>
          </a:xfrm>
          <a:prstGeom prst="roundRect">
            <a:avLst>
              <a:gd name="adj" fmla="val 40000"/>
            </a:avLst>
          </a:prstGeom>
          <a:solidFill>
            <a:srgbClr val="161b22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2" name="Text 108"/>
          <p:cNvSpPr/>
          <p:nvPr/>
        </p:nvSpPr>
        <p:spPr>
          <a:xfrm>
            <a:off x="502920" y="36118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</a:rPr>
              <a:t>Mot :  SWING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93" name="Shape 109"/>
          <p:cNvSpPr/>
          <p:nvPr/>
        </p:nvSpPr>
        <p:spPr>
          <a:xfrm>
            <a:off x="438840" y="3886200"/>
            <a:ext cx="2285640" cy="228240"/>
          </a:xfrm>
          <a:prstGeom prst="roundRect">
            <a:avLst>
              <a:gd name="adj" fmla="val 40000"/>
            </a:avLst>
          </a:prstGeom>
          <a:solidFill>
            <a:srgbClr val="161b22"/>
          </a:solidFill>
          <a:ln w="12700">
            <a:solidFill>
              <a:srgbClr val="8b949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4" name="Text 110"/>
          <p:cNvSpPr/>
          <p:nvPr/>
        </p:nvSpPr>
        <p:spPr>
          <a:xfrm>
            <a:off x="502920" y="388620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Début : 1,2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95" name="Shape 111"/>
          <p:cNvSpPr/>
          <p:nvPr/>
        </p:nvSpPr>
        <p:spPr>
          <a:xfrm>
            <a:off x="2853000" y="3886200"/>
            <a:ext cx="2377080" cy="228240"/>
          </a:xfrm>
          <a:prstGeom prst="roundRect">
            <a:avLst>
              <a:gd name="adj" fmla="val 40000"/>
            </a:avLst>
          </a:prstGeom>
          <a:solidFill>
            <a:srgbClr val="161b22"/>
          </a:solidFill>
          <a:ln w="12700">
            <a:solidFill>
              <a:srgbClr val="8b949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6" name="Text 112"/>
          <p:cNvSpPr/>
          <p:nvPr/>
        </p:nvSpPr>
        <p:spPr>
          <a:xfrm>
            <a:off x="2926080" y="388620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6fc"/>
                </a:solidFill>
                <a:latin typeface="Calibri"/>
              </a:rPr>
              <a:t>Fin : 1,7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97" name="Shape 113"/>
          <p:cNvSpPr/>
          <p:nvPr/>
        </p:nvSpPr>
        <p:spPr>
          <a:xfrm>
            <a:off x="438840" y="4206240"/>
            <a:ext cx="1828440" cy="36540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114"/>
          <p:cNvSpPr/>
          <p:nvPr/>
        </p:nvSpPr>
        <p:spPr>
          <a:xfrm>
            <a:off x="438840" y="4206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✔ </a:t>
            </a:r>
            <a:r>
              <a:rPr b="1" lang="en-US" sz="1200" spc="-1" strike="noStrike">
                <a:solidFill>
                  <a:srgbClr val="0d1117"/>
                </a:solidFill>
                <a:latin typeface="Calibri"/>
              </a:rPr>
              <a:t>Valider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99" name="Shape 115"/>
          <p:cNvSpPr/>
          <p:nvPr/>
        </p:nvSpPr>
        <p:spPr>
          <a:xfrm>
            <a:off x="2423160" y="4206240"/>
            <a:ext cx="1828440" cy="36540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116"/>
          <p:cNvSpPr/>
          <p:nvPr/>
        </p:nvSpPr>
        <p:spPr>
          <a:xfrm>
            <a:off x="2423160" y="4206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↺ </a:t>
            </a: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Rejouer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01" name="Shape 117"/>
          <p:cNvSpPr/>
          <p:nvPr/>
        </p:nvSpPr>
        <p:spPr>
          <a:xfrm>
            <a:off x="5486400" y="1188720"/>
            <a:ext cx="3291480" cy="63972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02" name="Image 1" descr="preencoded.png"/>
          <p:cNvPicPr/>
          <p:nvPr/>
        </p:nvPicPr>
        <p:blipFill>
          <a:blip r:embed="rId2"/>
          <a:stretch/>
        </p:blipFill>
        <p:spPr>
          <a:xfrm>
            <a:off x="5623560" y="12618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03" name="Text 118"/>
          <p:cNvSpPr/>
          <p:nvPr/>
        </p:nvSpPr>
        <p:spPr>
          <a:xfrm>
            <a:off x="6080760" y="123444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Grille visuelle 100 cases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04" name="Shape 119"/>
          <p:cNvSpPr/>
          <p:nvPr/>
        </p:nvSpPr>
        <p:spPr>
          <a:xfrm>
            <a:off x="5486400" y="1965960"/>
            <a:ext cx="3291480" cy="63972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05" name="Image 2" descr="preencoded.png"/>
          <p:cNvPicPr/>
          <p:nvPr/>
        </p:nvPicPr>
        <p:blipFill>
          <a:blip r:embed="rId3"/>
          <a:stretch/>
        </p:blipFill>
        <p:spPr>
          <a:xfrm>
            <a:off x="5623560" y="20390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06" name="Text 120"/>
          <p:cNvSpPr/>
          <p:nvPr/>
        </p:nvSpPr>
        <p:spPr>
          <a:xfrm>
            <a:off x="6080760" y="201168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Saisie : mot + début + fin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07" name="Shape 121"/>
          <p:cNvSpPr/>
          <p:nvPr/>
        </p:nvSpPr>
        <p:spPr>
          <a:xfrm>
            <a:off x="5486400" y="2743200"/>
            <a:ext cx="3291480" cy="63972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08" name="Image 3" descr="preencoded.png"/>
          <p:cNvPicPr/>
          <p:nvPr/>
        </p:nvPicPr>
        <p:blipFill>
          <a:blip r:embed="rId4"/>
          <a:stretch/>
        </p:blipFill>
        <p:spPr>
          <a:xfrm>
            <a:off x="5623560" y="28162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09" name="Text 122"/>
          <p:cNvSpPr/>
          <p:nvPr/>
        </p:nvSpPr>
        <p:spPr>
          <a:xfrm>
            <a:off x="6080760" y="278892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Coloration des cases trouvées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10" name="Shape 123"/>
          <p:cNvSpPr/>
          <p:nvPr/>
        </p:nvSpPr>
        <p:spPr>
          <a:xfrm>
            <a:off x="5486400" y="3520440"/>
            <a:ext cx="3291480" cy="63972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11" name="Image 4" descr="preencoded.png"/>
          <p:cNvPicPr/>
          <p:nvPr/>
        </p:nvPicPr>
        <p:blipFill>
          <a:blip r:embed="rId5"/>
          <a:stretch/>
        </p:blipFill>
        <p:spPr>
          <a:xfrm>
            <a:off x="5623560" y="3593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12" name="Text 124"/>
          <p:cNvSpPr/>
          <p:nvPr/>
        </p:nvSpPr>
        <p:spPr>
          <a:xfrm>
            <a:off x="6080760" y="35661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Score mis à jour en temps réel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13" name="Shape 125"/>
          <p:cNvSpPr/>
          <p:nvPr/>
        </p:nvSpPr>
        <p:spPr>
          <a:xfrm>
            <a:off x="5486400" y="4297680"/>
            <a:ext cx="3291480" cy="63972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14" name="Image 5" descr="preencoded.png"/>
          <p:cNvPicPr/>
          <p:nvPr/>
        </p:nvPicPr>
        <p:blipFill>
          <a:blip r:embed="rId6"/>
          <a:stretch/>
        </p:blipFill>
        <p:spPr>
          <a:xfrm>
            <a:off x="5623560" y="43707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15" name="Text 126"/>
          <p:cNvSpPr/>
          <p:nvPr/>
        </p:nvSpPr>
        <p:spPr>
          <a:xfrm>
            <a:off x="6080760" y="434340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6fc"/>
                </a:solidFill>
                <a:latin typeface="Calibri"/>
              </a:rPr>
              <a:t>Liste mots trouvés / restants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16" name="Shape 127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128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129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19" name="Text 130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7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2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23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Améliorations Ajoutées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424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Évolutions récentes qui rendent le jeu plus complet et agréable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25" name="Shape 4"/>
          <p:cNvSpPr/>
          <p:nvPr/>
        </p:nvSpPr>
        <p:spPr>
          <a:xfrm>
            <a:off x="365760" y="1188720"/>
            <a:ext cx="4160160" cy="1691280"/>
          </a:xfrm>
          <a:prstGeom prst="roundRect">
            <a:avLst>
              <a:gd name="adj" fmla="val 540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26" name="Image 1" descr="preencoded.png"/>
          <p:cNvPicPr/>
          <p:nvPr/>
        </p:nvPicPr>
        <p:blipFill>
          <a:blip r:embed="rId2"/>
          <a:stretch/>
        </p:blipFill>
        <p:spPr>
          <a:xfrm>
            <a:off x="548640" y="1371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27" name="Shape 5"/>
          <p:cNvSpPr/>
          <p:nvPr/>
        </p:nvSpPr>
        <p:spPr>
          <a:xfrm>
            <a:off x="365760" y="1188720"/>
            <a:ext cx="63720" cy="169128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6"/>
          <p:cNvSpPr/>
          <p:nvPr/>
        </p:nvSpPr>
        <p:spPr>
          <a:xfrm>
            <a:off x="1188720" y="12985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Compteur de progression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1188720" y="171900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Affichage en temps réel du ratio mots trouvés / nombre total. Le joueur sait toujours où il en est.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4800600" y="1188720"/>
            <a:ext cx="4160160" cy="1691280"/>
          </a:xfrm>
          <a:prstGeom prst="roundRect">
            <a:avLst>
              <a:gd name="adj" fmla="val 540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31" name="Image 2" descr="preencoded.png"/>
          <p:cNvPicPr/>
          <p:nvPr/>
        </p:nvPicPr>
        <p:blipFill>
          <a:blip r:embed="rId3"/>
          <a:stretch/>
        </p:blipFill>
        <p:spPr>
          <a:xfrm>
            <a:off x="4983480" y="1371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32" name="Shape 9"/>
          <p:cNvSpPr/>
          <p:nvPr/>
        </p:nvSpPr>
        <p:spPr>
          <a:xfrm>
            <a:off x="4800600" y="1188720"/>
            <a:ext cx="63720" cy="16912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10"/>
          <p:cNvSpPr/>
          <p:nvPr/>
        </p:nvSpPr>
        <p:spPr>
          <a:xfrm>
            <a:off x="5623560" y="12985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Liste des mots enrichie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34" name="Text 11"/>
          <p:cNvSpPr/>
          <p:nvPr/>
        </p:nvSpPr>
        <p:spPr>
          <a:xfrm>
            <a:off x="5623560" y="171900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Interface plus lisible : mots restants et mots déjà trouvés clairement séparés dans le panneau latéral.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35" name="Shape 12"/>
          <p:cNvSpPr/>
          <p:nvPr/>
        </p:nvSpPr>
        <p:spPr>
          <a:xfrm>
            <a:off x="365760" y="3063240"/>
            <a:ext cx="4160160" cy="1691280"/>
          </a:xfrm>
          <a:prstGeom prst="roundRect">
            <a:avLst>
              <a:gd name="adj" fmla="val 540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36" name="Image 3" descr="preencoded.png"/>
          <p:cNvPicPr/>
          <p:nvPr/>
        </p:nvPicPr>
        <p:blipFill>
          <a:blip r:embed="rId4"/>
          <a:stretch/>
        </p:blipFill>
        <p:spPr>
          <a:xfrm>
            <a:off x="548640" y="32461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37" name="Shape 13"/>
          <p:cNvSpPr/>
          <p:nvPr/>
        </p:nvSpPr>
        <p:spPr>
          <a:xfrm>
            <a:off x="365760" y="3063240"/>
            <a:ext cx="63720" cy="169128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4"/>
          <p:cNvSpPr/>
          <p:nvPr/>
        </p:nvSpPr>
        <p:spPr>
          <a:xfrm>
            <a:off x="1188720" y="31730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Affichage barré des mots trouvés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39" name="Text 15"/>
          <p:cNvSpPr/>
          <p:nvPr/>
        </p:nvSpPr>
        <p:spPr>
          <a:xfrm>
            <a:off x="1188720" y="359352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Les mots trouvés apparaissent barrés dans la liste, renforçant le sentiment de progression.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40" name="Shape 16"/>
          <p:cNvSpPr/>
          <p:nvPr/>
        </p:nvSpPr>
        <p:spPr>
          <a:xfrm>
            <a:off x="4800600" y="3063240"/>
            <a:ext cx="4160160" cy="1691280"/>
          </a:xfrm>
          <a:prstGeom prst="roundRect">
            <a:avLst>
              <a:gd name="adj" fmla="val 540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41" name="Image 4" descr="preencoded.png"/>
          <p:cNvPicPr/>
          <p:nvPr/>
        </p:nvPicPr>
        <p:blipFill>
          <a:blip r:embed="rId5"/>
          <a:stretch/>
        </p:blipFill>
        <p:spPr>
          <a:xfrm>
            <a:off x="4983480" y="32461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42" name="Shape 17"/>
          <p:cNvSpPr/>
          <p:nvPr/>
        </p:nvSpPr>
        <p:spPr>
          <a:xfrm>
            <a:off x="4800600" y="3063240"/>
            <a:ext cx="63720" cy="1691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18"/>
          <p:cNvSpPr/>
          <p:nvPr/>
        </p:nvSpPr>
        <p:spPr>
          <a:xfrm>
            <a:off x="5623560" y="31730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Détection des doublons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44" name="Text 19"/>
          <p:cNvSpPr/>
          <p:nvPr/>
        </p:nvSpPr>
        <p:spPr>
          <a:xfrm>
            <a:off x="5623560" y="359352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Message spécial si le joueur propose un mot déjà trouvé. Évite les confusions et améliore l'UX.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45" name="Shape 20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Shape 21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Text 22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48" name="Text 23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8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51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52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Gestion des Erreurs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453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Exceptions personnalisées — robustesse et messages clairs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54" name="Shape 4"/>
          <p:cNvSpPr/>
          <p:nvPr/>
        </p:nvSpPr>
        <p:spPr>
          <a:xfrm>
            <a:off x="365760" y="1170360"/>
            <a:ext cx="8412120" cy="1078560"/>
          </a:xfrm>
          <a:prstGeom prst="roundRect">
            <a:avLst>
              <a:gd name="adj" fmla="val 847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5" name="Shape 5"/>
          <p:cNvSpPr/>
          <p:nvPr/>
        </p:nvSpPr>
        <p:spPr>
          <a:xfrm>
            <a:off x="365760" y="1170360"/>
            <a:ext cx="63720" cy="107856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Text 6"/>
          <p:cNvSpPr/>
          <p:nvPr/>
        </p:nvSpPr>
        <p:spPr>
          <a:xfrm>
            <a:off x="548640" y="12434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a657"/>
                </a:solidFill>
                <a:latin typeface="Courier New"/>
                <a:ea typeface="Courier New"/>
              </a:rPr>
              <a:t>CoordonneesInvalidesException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57" name="Text 7"/>
          <p:cNvSpPr/>
          <p:nvPr/>
        </p:nvSpPr>
        <p:spPr>
          <a:xfrm>
            <a:off x="548640" y="15912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Lancée quand ligne ou colonne est hors de la grille 10×10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58" name="Shape 8"/>
          <p:cNvSpPr/>
          <p:nvPr/>
        </p:nvSpPr>
        <p:spPr>
          <a:xfrm>
            <a:off x="548640" y="1901880"/>
            <a:ext cx="2285640" cy="2556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635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9"/>
          <p:cNvSpPr/>
          <p:nvPr/>
        </p:nvSpPr>
        <p:spPr>
          <a:xfrm>
            <a:off x="548640" y="19018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a657"/>
                </a:solidFill>
                <a:latin typeface="Courier New"/>
                <a:ea typeface="Courier New"/>
              </a:rPr>
              <a:t>ex: ligne=-1 ou colonne=12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460" name="Text 10"/>
          <p:cNvSpPr/>
          <p:nvPr/>
        </p:nvSpPr>
        <p:spPr>
          <a:xfrm>
            <a:off x="5212080" y="128016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ourier New"/>
                <a:ea typeface="Courier New"/>
              </a:rPr>
              <a:t>"Position invalide : hors de la grille"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461" name="Shape 11"/>
          <p:cNvSpPr/>
          <p:nvPr/>
        </p:nvSpPr>
        <p:spPr>
          <a:xfrm>
            <a:off x="365760" y="2386440"/>
            <a:ext cx="8412120" cy="1078560"/>
          </a:xfrm>
          <a:prstGeom prst="roundRect">
            <a:avLst>
              <a:gd name="adj" fmla="val 847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2" name="Shape 12"/>
          <p:cNvSpPr/>
          <p:nvPr/>
        </p:nvSpPr>
        <p:spPr>
          <a:xfrm>
            <a:off x="365760" y="2386440"/>
            <a:ext cx="63720" cy="10785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13"/>
          <p:cNvSpPr/>
          <p:nvPr/>
        </p:nvSpPr>
        <p:spPr>
          <a:xfrm>
            <a:off x="548640" y="245988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bc8cff"/>
                </a:solidFill>
                <a:latin typeface="Courier New"/>
                <a:ea typeface="Courier New"/>
              </a:rPr>
              <a:t>AlignementInvalideException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64" name="Text 14"/>
          <p:cNvSpPr/>
          <p:nvPr/>
        </p:nvSpPr>
        <p:spPr>
          <a:xfrm>
            <a:off x="548640" y="28072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Lancée quand le trajet n'est ni horizontal, ni vertical, ni diagonal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65" name="Shape 15"/>
          <p:cNvSpPr/>
          <p:nvPr/>
        </p:nvSpPr>
        <p:spPr>
          <a:xfrm>
            <a:off x="548640" y="3117960"/>
            <a:ext cx="2285640" cy="2556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635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Text 16"/>
          <p:cNvSpPr/>
          <p:nvPr/>
        </p:nvSpPr>
        <p:spPr>
          <a:xfrm>
            <a:off x="548640" y="31179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bc8cff"/>
                </a:solidFill>
                <a:latin typeface="Courier New"/>
                <a:ea typeface="Courier New"/>
              </a:rPr>
              <a:t>ex: de (0,0) à (2,3)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467" name="Text 17"/>
          <p:cNvSpPr/>
          <p:nvPr/>
        </p:nvSpPr>
        <p:spPr>
          <a:xfrm>
            <a:off x="5212080" y="249624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ourier New"/>
                <a:ea typeface="Courier New"/>
              </a:rPr>
              <a:t>"Direction non valide pour un mot caché"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468" name="Shape 18"/>
          <p:cNvSpPr/>
          <p:nvPr/>
        </p:nvSpPr>
        <p:spPr>
          <a:xfrm>
            <a:off x="365760" y="3602880"/>
            <a:ext cx="8412120" cy="1078560"/>
          </a:xfrm>
          <a:prstGeom prst="roundRect">
            <a:avLst>
              <a:gd name="adj" fmla="val 8475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9" name="Shape 19"/>
          <p:cNvSpPr/>
          <p:nvPr/>
        </p:nvSpPr>
        <p:spPr>
          <a:xfrm>
            <a:off x="365760" y="3602880"/>
            <a:ext cx="63720" cy="1078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Text 20"/>
          <p:cNvSpPr/>
          <p:nvPr/>
        </p:nvSpPr>
        <p:spPr>
          <a:xfrm>
            <a:off x="548640" y="367596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ourier New"/>
                <a:ea typeface="Courier New"/>
              </a:rPr>
              <a:t>NumberFormatException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71" name="Text 21"/>
          <p:cNvSpPr/>
          <p:nvPr/>
        </p:nvSpPr>
        <p:spPr>
          <a:xfrm>
            <a:off x="548640" y="4023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Interceptée quand le joueur saisit des coordonnées non numériques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72" name="Shape 22"/>
          <p:cNvSpPr/>
          <p:nvPr/>
        </p:nvSpPr>
        <p:spPr>
          <a:xfrm>
            <a:off x="548640" y="4334400"/>
            <a:ext cx="2285640" cy="2556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23"/>
          <p:cNvSpPr/>
          <p:nvPr/>
        </p:nvSpPr>
        <p:spPr>
          <a:xfrm>
            <a:off x="548640" y="43344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urier New"/>
                <a:ea typeface="Courier New"/>
              </a:rPr>
              <a:t>ex: "a,b" au lieu de "1,3"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474" name="Text 24"/>
          <p:cNvSpPr/>
          <p:nvPr/>
        </p:nvSpPr>
        <p:spPr>
          <a:xfrm>
            <a:off x="5212080" y="371232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ourier New"/>
                <a:ea typeface="Courier New"/>
              </a:rPr>
              <a:t>"Veuillez entrer des chiffres valides"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475" name="Shape 25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Shape 26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Text 27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78" name="Text 28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9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81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82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Démonstration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Lancer l'application et jouer une partie complète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365760" y="1143000"/>
            <a:ext cx="8412120" cy="7311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56d36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5" name="Text 5"/>
          <p:cNvSpPr/>
          <p:nvPr/>
        </p:nvSpPr>
        <p:spPr>
          <a:xfrm>
            <a:off x="548640" y="1143000"/>
            <a:ext cx="319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56d364"/>
                </a:solidFill>
                <a:latin typeface="Calibri"/>
              </a:rPr>
              <a:t>$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86" name="Text 6"/>
          <p:cNvSpPr/>
          <p:nvPr/>
        </p:nvSpPr>
        <p:spPr>
          <a:xfrm>
            <a:off x="868680" y="114300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f6fc"/>
                </a:solidFill>
                <a:latin typeface="Courier New"/>
                <a:ea typeface="Courier New"/>
              </a:rPr>
              <a:t>java  -cp  bin  view.FenetrePrincipale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87" name="Shape 7"/>
          <p:cNvSpPr/>
          <p:nvPr/>
        </p:nvSpPr>
        <p:spPr>
          <a:xfrm>
            <a:off x="365760" y="2011680"/>
            <a:ext cx="4160160" cy="1188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8" name="Shape 8"/>
          <p:cNvSpPr/>
          <p:nvPr/>
        </p:nvSpPr>
        <p:spPr>
          <a:xfrm>
            <a:off x="548640" y="2286000"/>
            <a:ext cx="594000" cy="5940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Text 9"/>
          <p:cNvSpPr/>
          <p:nvPr/>
        </p:nvSpPr>
        <p:spPr>
          <a:xfrm>
            <a:off x="548640" y="22860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117"/>
                </a:solidFill>
                <a:latin typeface="Calibri"/>
              </a:rPr>
              <a:t>01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90" name="Text 10"/>
          <p:cNvSpPr/>
          <p:nvPr/>
        </p:nvSpPr>
        <p:spPr>
          <a:xfrm>
            <a:off x="1325880" y="210312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Choisir un mot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91" name="Text 11"/>
          <p:cNvSpPr/>
          <p:nvPr/>
        </p:nvSpPr>
        <p:spPr>
          <a:xfrm>
            <a:off x="1325880" y="248724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Dans la liste à droite, identifier un mot à chercher. La liste montre tous les mots restants.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492" name="Shape 12"/>
          <p:cNvSpPr/>
          <p:nvPr/>
        </p:nvSpPr>
        <p:spPr>
          <a:xfrm>
            <a:off x="4800600" y="2011680"/>
            <a:ext cx="4160160" cy="1188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3" name="Shape 13"/>
          <p:cNvSpPr/>
          <p:nvPr/>
        </p:nvSpPr>
        <p:spPr>
          <a:xfrm>
            <a:off x="4983480" y="2286000"/>
            <a:ext cx="594000" cy="59400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14"/>
          <p:cNvSpPr/>
          <p:nvPr/>
        </p:nvSpPr>
        <p:spPr>
          <a:xfrm>
            <a:off x="4983480" y="22860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117"/>
                </a:solidFill>
                <a:latin typeface="Calibri"/>
              </a:rPr>
              <a:t>02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95" name="Text 15"/>
          <p:cNvSpPr/>
          <p:nvPr/>
        </p:nvSpPr>
        <p:spPr>
          <a:xfrm>
            <a:off x="5760720" y="210312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Saisir les coordonnées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96" name="Text 16"/>
          <p:cNvSpPr/>
          <p:nvPr/>
        </p:nvSpPr>
        <p:spPr>
          <a:xfrm>
            <a:off x="5760720" y="248724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Entrer la case de début et la case de fin dans les champs prévus (format : ligne,colonne).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497" name="Shape 17"/>
          <p:cNvSpPr/>
          <p:nvPr/>
        </p:nvSpPr>
        <p:spPr>
          <a:xfrm>
            <a:off x="365760" y="3383280"/>
            <a:ext cx="4160160" cy="1188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8" name="Shape 18"/>
          <p:cNvSpPr/>
          <p:nvPr/>
        </p:nvSpPr>
        <p:spPr>
          <a:xfrm>
            <a:off x="548640" y="3657600"/>
            <a:ext cx="594000" cy="59400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Text 19"/>
          <p:cNvSpPr/>
          <p:nvPr/>
        </p:nvSpPr>
        <p:spPr>
          <a:xfrm>
            <a:off x="548640" y="36576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117"/>
                </a:solidFill>
                <a:latin typeface="Calibri"/>
              </a:rPr>
              <a:t>03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00" name="Text 20"/>
          <p:cNvSpPr/>
          <p:nvPr/>
        </p:nvSpPr>
        <p:spPr>
          <a:xfrm>
            <a:off x="1325880" y="347472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Valider le coup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01" name="Text 21"/>
          <p:cNvSpPr/>
          <p:nvPr/>
        </p:nvSpPr>
        <p:spPr>
          <a:xfrm>
            <a:off x="1325880" y="385884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Cliquer sur Valider. Le mot s'affiche coloré dans la grille si correct, avec un message d'erreur sinon.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502" name="Shape 22"/>
          <p:cNvSpPr/>
          <p:nvPr/>
        </p:nvSpPr>
        <p:spPr>
          <a:xfrm>
            <a:off x="4800600" y="3383280"/>
            <a:ext cx="4160160" cy="1188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3" name="Shape 23"/>
          <p:cNvSpPr/>
          <p:nvPr/>
        </p:nvSpPr>
        <p:spPr>
          <a:xfrm>
            <a:off x="4983480" y="3657600"/>
            <a:ext cx="594000" cy="594000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Text 24"/>
          <p:cNvSpPr/>
          <p:nvPr/>
        </p:nvSpPr>
        <p:spPr>
          <a:xfrm>
            <a:off x="4983480" y="36576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117"/>
                </a:solidFill>
                <a:latin typeface="Calibri"/>
              </a:rPr>
              <a:t>04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05" name="Text 25"/>
          <p:cNvSpPr/>
          <p:nvPr/>
        </p:nvSpPr>
        <p:spPr>
          <a:xfrm>
            <a:off x="5760720" y="347472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alibri"/>
              </a:rPr>
              <a:t>Suivre sa progression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06" name="Text 26"/>
          <p:cNvSpPr/>
          <p:nvPr/>
        </p:nvSpPr>
        <p:spPr>
          <a:xfrm>
            <a:off x="5760720" y="385884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</a:rPr>
              <a:t>Observer le score monter et la liste se barrer au fil des mots trouvés. Rejouer à tout moment.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507" name="Shape 27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Shape 28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Text 29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10" name="Text 30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10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13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514" name="Text 2"/>
          <p:cNvSpPr/>
          <p:nvPr/>
        </p:nvSpPr>
        <p:spPr>
          <a:xfrm>
            <a:off x="1005840" y="1098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0f6fc"/>
                </a:solidFill>
                <a:latin typeface="Calibri"/>
              </a:rPr>
              <a:t>Limites &amp; Perspectives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1005840" y="594360"/>
            <a:ext cx="7223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Ce qui reste à améliorer et les pistes d'évolution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16" name="Text 4"/>
          <p:cNvSpPr/>
          <p:nvPr/>
        </p:nvSpPr>
        <p:spPr>
          <a:xfrm>
            <a:off x="365760" y="114300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a657"/>
                </a:solidFill>
                <a:latin typeface="Calibri"/>
              </a:rPr>
              <a:t>Limites actuelles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517" name="Text 5"/>
          <p:cNvSpPr/>
          <p:nvPr/>
        </p:nvSpPr>
        <p:spPr>
          <a:xfrm>
            <a:off x="4846320" y="114300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b4d8"/>
                </a:solidFill>
                <a:latin typeface="Calibri"/>
              </a:rPr>
              <a:t>Perspectives futures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365760" y="164592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ffa657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9" name="Shape 7"/>
          <p:cNvSpPr/>
          <p:nvPr/>
        </p:nvSpPr>
        <p:spPr>
          <a:xfrm>
            <a:off x="502920" y="1783080"/>
            <a:ext cx="273960" cy="27396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Text 8"/>
          <p:cNvSpPr/>
          <p:nvPr/>
        </p:nvSpPr>
        <p:spPr>
          <a:xfrm>
            <a:off x="914400" y="164592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Coordonnées de la grille absentes dans l'interface graphique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21" name="Shape 9"/>
          <p:cNvSpPr/>
          <p:nvPr/>
        </p:nvSpPr>
        <p:spPr>
          <a:xfrm>
            <a:off x="365760" y="242316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ffa657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2" name="Shape 10"/>
          <p:cNvSpPr/>
          <p:nvPr/>
        </p:nvSpPr>
        <p:spPr>
          <a:xfrm>
            <a:off x="502920" y="2560320"/>
            <a:ext cx="273960" cy="27396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Text 11"/>
          <p:cNvSpPr/>
          <p:nvPr/>
        </p:nvSpPr>
        <p:spPr>
          <a:xfrm>
            <a:off x="914400" y="242316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Sélection des lettres uniquement par saisie textuelle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24" name="Shape 12"/>
          <p:cNvSpPr/>
          <p:nvPr/>
        </p:nvSpPr>
        <p:spPr>
          <a:xfrm>
            <a:off x="365760" y="320040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ffa657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5" name="Shape 13"/>
          <p:cNvSpPr/>
          <p:nvPr/>
        </p:nvSpPr>
        <p:spPr>
          <a:xfrm>
            <a:off x="502920" y="3337560"/>
            <a:ext cx="273960" cy="27396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Text 14"/>
          <p:cNvSpPr/>
          <p:nvPr/>
        </p:nvSpPr>
        <p:spPr>
          <a:xfrm>
            <a:off x="914400" y="320040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Pas d'indice disponible pour aider le joueur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27" name="Shape 15"/>
          <p:cNvSpPr/>
          <p:nvPr/>
        </p:nvSpPr>
        <p:spPr>
          <a:xfrm>
            <a:off x="365760" y="397764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ffa657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8" name="Shape 16"/>
          <p:cNvSpPr/>
          <p:nvPr/>
        </p:nvSpPr>
        <p:spPr>
          <a:xfrm>
            <a:off x="502920" y="4114800"/>
            <a:ext cx="273960" cy="27396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17"/>
          <p:cNvSpPr/>
          <p:nvPr/>
        </p:nvSpPr>
        <p:spPr>
          <a:xfrm>
            <a:off x="914400" y="397764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Un seul niveau de difficulté (grille fixe 10×10)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30" name="Shape 18"/>
          <p:cNvSpPr/>
          <p:nvPr/>
        </p:nvSpPr>
        <p:spPr>
          <a:xfrm>
            <a:off x="4846320" y="164592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1" name="Shape 19"/>
          <p:cNvSpPr/>
          <p:nvPr/>
        </p:nvSpPr>
        <p:spPr>
          <a:xfrm>
            <a:off x="4983480" y="1783080"/>
            <a:ext cx="273960" cy="273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20"/>
          <p:cNvSpPr/>
          <p:nvPr/>
        </p:nvSpPr>
        <p:spPr>
          <a:xfrm>
            <a:off x="5394960" y="164592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Affichage des numéros de lignes et colonnes autour de la grille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33" name="Shape 21"/>
          <p:cNvSpPr/>
          <p:nvPr/>
        </p:nvSpPr>
        <p:spPr>
          <a:xfrm>
            <a:off x="4846320" y="242316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4" name="Shape 22"/>
          <p:cNvSpPr/>
          <p:nvPr/>
        </p:nvSpPr>
        <p:spPr>
          <a:xfrm>
            <a:off x="4983480" y="2560320"/>
            <a:ext cx="273960" cy="273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23"/>
          <p:cNvSpPr/>
          <p:nvPr/>
        </p:nvSpPr>
        <p:spPr>
          <a:xfrm>
            <a:off x="5394960" y="242316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Sélection des lettres à la souris (clic-glissé)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36" name="Shape 24"/>
          <p:cNvSpPr/>
          <p:nvPr/>
        </p:nvSpPr>
        <p:spPr>
          <a:xfrm>
            <a:off x="4846320" y="320040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7" name="Shape 25"/>
          <p:cNvSpPr/>
          <p:nvPr/>
        </p:nvSpPr>
        <p:spPr>
          <a:xfrm>
            <a:off x="4983480" y="3337560"/>
            <a:ext cx="273960" cy="273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26"/>
          <p:cNvSpPr/>
          <p:nvPr/>
        </p:nvSpPr>
        <p:spPr>
          <a:xfrm>
            <a:off x="5394960" y="320040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Bouton Indice : révèle la première lettre d'un mot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39" name="Shape 27"/>
          <p:cNvSpPr/>
          <p:nvPr/>
        </p:nvSpPr>
        <p:spPr>
          <a:xfrm>
            <a:off x="4846320" y="3977640"/>
            <a:ext cx="4023000" cy="658080"/>
          </a:xfrm>
          <a:prstGeom prst="roundRect">
            <a:avLst>
              <a:gd name="adj" fmla="val 13889"/>
            </a:avLst>
          </a:prstGeom>
          <a:solidFill>
            <a:srgbClr val="21262d"/>
          </a:solidFill>
          <a:ln w="1270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0" name="Shape 28"/>
          <p:cNvSpPr/>
          <p:nvPr/>
        </p:nvSpPr>
        <p:spPr>
          <a:xfrm>
            <a:off x="4983480" y="4114800"/>
            <a:ext cx="273960" cy="273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Text 29"/>
          <p:cNvSpPr/>
          <p:nvPr/>
        </p:nvSpPr>
        <p:spPr>
          <a:xfrm>
            <a:off x="5394960" y="397764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6fc"/>
                </a:solidFill>
                <a:latin typeface="Calibri"/>
              </a:rPr>
              <a:t>Niveaux de difficulté : taille de grille et nombre de mots variables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42" name="Shape 30"/>
          <p:cNvSpPr/>
          <p:nvPr/>
        </p:nvSpPr>
        <p:spPr>
          <a:xfrm>
            <a:off x="4434840" y="1143000"/>
            <a:ext cx="360" cy="3657600"/>
          </a:xfrm>
          <a:prstGeom prst="line">
            <a:avLst/>
          </a:prstGeom>
          <a:ln w="6350">
            <a:solidFill>
              <a:srgbClr val="8b949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Shape 31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Shape 32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Text 33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46" name="Text 34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11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1"/>
          <p:cNvSpPr/>
          <p:nvPr/>
        </p:nvSpPr>
        <p:spPr>
          <a:xfrm>
            <a:off x="457200" y="3200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0f6fc"/>
                </a:solidFill>
                <a:latin typeface="Calibri"/>
              </a:rPr>
              <a:t>Conclusion</a:t>
            </a:r>
            <a:endParaRPr b="0" lang="fr-FR" sz="3400" spc="-1" strike="noStrike">
              <a:latin typeface="Arial"/>
            </a:endParaRPr>
          </a:p>
        </p:txBody>
      </p:sp>
      <p:sp>
        <p:nvSpPr>
          <p:cNvPr id="549" name="Shape 2"/>
          <p:cNvSpPr/>
          <p:nvPr/>
        </p:nvSpPr>
        <p:spPr>
          <a:xfrm>
            <a:off x="457200" y="1005840"/>
            <a:ext cx="8229240" cy="804240"/>
          </a:xfrm>
          <a:prstGeom prst="roundRect">
            <a:avLst>
              <a:gd name="adj" fmla="val 1136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0" name="Shape 3"/>
          <p:cNvSpPr/>
          <p:nvPr/>
        </p:nvSpPr>
        <p:spPr>
          <a:xfrm>
            <a:off x="457200" y="1005840"/>
            <a:ext cx="63720" cy="804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51" name="Image 0" descr="preencoded.png"/>
          <p:cNvPicPr/>
          <p:nvPr/>
        </p:nvPicPr>
        <p:blipFill>
          <a:blip r:embed="rId1"/>
          <a:stretch/>
        </p:blipFill>
        <p:spPr>
          <a:xfrm>
            <a:off x="658440" y="111564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552" name="Text 4"/>
          <p:cNvSpPr/>
          <p:nvPr/>
        </p:nvSpPr>
        <p:spPr>
          <a:xfrm>
            <a:off x="1234440" y="1005840"/>
            <a:ext cx="7223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f6fc"/>
                </a:solidFill>
                <a:latin typeface="Calibri"/>
              </a:rPr>
              <a:t>Architecture claire : séparation données, moteur et interface (MVC)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53" name="Shape 5"/>
          <p:cNvSpPr/>
          <p:nvPr/>
        </p:nvSpPr>
        <p:spPr>
          <a:xfrm>
            <a:off x="457200" y="1947600"/>
            <a:ext cx="8229240" cy="804240"/>
          </a:xfrm>
          <a:prstGeom prst="roundRect">
            <a:avLst>
              <a:gd name="adj" fmla="val 1136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4" name="Shape 6"/>
          <p:cNvSpPr/>
          <p:nvPr/>
        </p:nvSpPr>
        <p:spPr>
          <a:xfrm>
            <a:off x="457200" y="1947600"/>
            <a:ext cx="63720" cy="8042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55" name="Image 1" descr="preencoded.png"/>
          <p:cNvPicPr/>
          <p:nvPr/>
        </p:nvPicPr>
        <p:blipFill>
          <a:blip r:embed="rId2"/>
          <a:stretch/>
        </p:blipFill>
        <p:spPr>
          <a:xfrm>
            <a:off x="658440" y="205740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556" name="Text 7"/>
          <p:cNvSpPr/>
          <p:nvPr/>
        </p:nvSpPr>
        <p:spPr>
          <a:xfrm>
            <a:off x="1234440" y="1947600"/>
            <a:ext cx="7223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f6fc"/>
                </a:solidFill>
                <a:latin typeface="Calibri"/>
              </a:rPr>
              <a:t>Double mode : console ET fenêtre graphique Swing fonctionnelle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57" name="Shape 8"/>
          <p:cNvSpPr/>
          <p:nvPr/>
        </p:nvSpPr>
        <p:spPr>
          <a:xfrm>
            <a:off x="457200" y="2889360"/>
            <a:ext cx="8229240" cy="804240"/>
          </a:xfrm>
          <a:prstGeom prst="roundRect">
            <a:avLst>
              <a:gd name="adj" fmla="val 1136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8" name="Shape 9"/>
          <p:cNvSpPr/>
          <p:nvPr/>
        </p:nvSpPr>
        <p:spPr>
          <a:xfrm>
            <a:off x="457200" y="2889360"/>
            <a:ext cx="63720" cy="80424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59" name="Image 2" descr="preencoded.png"/>
          <p:cNvPicPr/>
          <p:nvPr/>
        </p:nvPicPr>
        <p:blipFill>
          <a:blip r:embed="rId3"/>
          <a:stretch/>
        </p:blipFill>
        <p:spPr>
          <a:xfrm>
            <a:off x="658440" y="299916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560" name="Text 10"/>
          <p:cNvSpPr/>
          <p:nvPr/>
        </p:nvSpPr>
        <p:spPr>
          <a:xfrm>
            <a:off x="1234440" y="2889360"/>
            <a:ext cx="7223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f6fc"/>
                </a:solidFill>
                <a:latin typeface="Calibri"/>
              </a:rPr>
              <a:t>Contrôles d'erreurs robustes : l'application ne plante jamais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61" name="Shape 11"/>
          <p:cNvSpPr/>
          <p:nvPr/>
        </p:nvSpPr>
        <p:spPr>
          <a:xfrm>
            <a:off x="457200" y="3831480"/>
            <a:ext cx="8229240" cy="804240"/>
          </a:xfrm>
          <a:prstGeom prst="roundRect">
            <a:avLst>
              <a:gd name="adj" fmla="val 11364"/>
            </a:avLst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2" name="Shape 12"/>
          <p:cNvSpPr/>
          <p:nvPr/>
        </p:nvSpPr>
        <p:spPr>
          <a:xfrm>
            <a:off x="457200" y="3831480"/>
            <a:ext cx="63720" cy="80424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63" name="Image 3" descr="preencoded.png"/>
          <p:cNvPicPr/>
          <p:nvPr/>
        </p:nvPicPr>
        <p:blipFill>
          <a:blip r:embed="rId4"/>
          <a:stretch/>
        </p:blipFill>
        <p:spPr>
          <a:xfrm>
            <a:off x="658440" y="394092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564" name="Text 13"/>
          <p:cNvSpPr/>
          <p:nvPr/>
        </p:nvSpPr>
        <p:spPr>
          <a:xfrm>
            <a:off x="1234440" y="3831480"/>
            <a:ext cx="7223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f6fc"/>
                </a:solidFill>
                <a:latin typeface="Calibri"/>
              </a:rPr>
              <a:t>Améliorations récentes : progression, doublons, affichage barré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65" name="Shape 14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Text 15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117"/>
                </a:solidFill>
                <a:latin typeface="Calibri"/>
              </a:rPr>
              <a:t>Merci pour votre attention  —  Questions ?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67" name="Shape 16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Shape 17"/>
          <p:cNvSpPr/>
          <p:nvPr/>
        </p:nvSpPr>
        <p:spPr>
          <a:xfrm>
            <a:off x="0" y="4869360"/>
            <a:ext cx="36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Text 18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Projet Java — Jeu de Mots Cachés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70" name="Text 19"/>
          <p:cNvSpPr/>
          <p:nvPr/>
        </p:nvSpPr>
        <p:spPr>
          <a:xfrm>
            <a:off x="274320" y="48693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12 / 12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2026-06-17T07:44:48Z</dcterms:created>
  <dc:creator>PptxGenJS</dc:creator>
  <dc:description/>
  <dc:language>fr-FR</dc:language>
  <cp:lastModifiedBy/>
  <dcterms:modified xsi:type="dcterms:W3CDTF">2026-06-17T09:19:49Z</dcterms:modified>
  <cp:revision>2</cp:revision>
  <dc:subject>PptxGenJS Presentation</dc:subject>
  <dc:title>Jeu de Mots Cachés - Projet Java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